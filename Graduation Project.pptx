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8288000" cy="10287000"/>
  <p:notesSz cx="6858000" cy="9144000"/>
  <p:embeddedFontLst>
    <p:embeddedFont>
      <p:font typeface="Calibri" panose="020F0502020204030204" pitchFamily="34" charset="0"/>
      <p:regular r:id="rId17"/>
      <p:bold r:id="rId18"/>
      <p:italic r:id="rId19"/>
      <p:boldItalic r:id="rId20"/>
    </p:embeddedFont>
    <p:embeddedFont>
      <p:font typeface="Garet" panose="020B0604020202020204" charset="0"/>
      <p:regular r:id="rId21"/>
    </p:embeddedFont>
    <p:embeddedFont>
      <p:font typeface="Garet Bold" panose="020B0604020202020204" charset="0"/>
      <p:regular r:id="rId22"/>
    </p:embeddedFont>
    <p:embeddedFont>
      <p:font typeface="TT Fors" panose="020B0604020202020204" charset="0"/>
      <p:regular r:id="rId23"/>
    </p:embeddedFont>
    <p:embeddedFont>
      <p:font typeface="TT Fors Bold" panose="020B0604020202020204" charset="0"/>
      <p:regular r:id="rId24"/>
    </p:embeddedFont>
    <p:embeddedFont>
      <p:font typeface="Waffle Soft" panose="020B0604020202020204" charset="0"/>
      <p:regular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68" d="100"/>
          <a:sy n="68" d="100"/>
        </p:scale>
        <p:origin x="816" y="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font" Target="fonts/font9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4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8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7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13/12/2025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13/12/2025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13/12/2025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13/12/2025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13/12/2025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13/12/2025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13/12/2025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13/12/2025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13/12/2025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13/12/2025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13/12/2025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13/12/2025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12" Type="http://schemas.openxmlformats.org/officeDocument/2006/relationships/image" Target="../media/image11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sv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2.svg"/><Relationship Id="rId7" Type="http://schemas.openxmlformats.org/officeDocument/2006/relationships/image" Target="../media/image11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11" Type="http://schemas.openxmlformats.org/officeDocument/2006/relationships/image" Target="../media/image6.svg"/><Relationship Id="rId5" Type="http://schemas.openxmlformats.org/officeDocument/2006/relationships/image" Target="../media/image3.png"/><Relationship Id="rId10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image" Target="../media/image9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3.png"/><Relationship Id="rId10" Type="http://schemas.openxmlformats.org/officeDocument/2006/relationships/image" Target="../media/image15.png"/><Relationship Id="rId4" Type="http://schemas.openxmlformats.org/officeDocument/2006/relationships/image" Target="../media/image4.png"/><Relationship Id="rId9" Type="http://schemas.openxmlformats.org/officeDocument/2006/relationships/image" Target="../media/image1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13" Type="http://schemas.openxmlformats.org/officeDocument/2006/relationships/image" Target="../media/image2.svg"/><Relationship Id="rId18" Type="http://schemas.openxmlformats.org/officeDocument/2006/relationships/image" Target="../media/image8.png"/><Relationship Id="rId3" Type="http://schemas.openxmlformats.org/officeDocument/2006/relationships/image" Target="../media/image17.svg"/><Relationship Id="rId7" Type="http://schemas.openxmlformats.org/officeDocument/2006/relationships/image" Target="../media/image21.svg"/><Relationship Id="rId12" Type="http://schemas.openxmlformats.org/officeDocument/2006/relationships/image" Target="../media/image1.png"/><Relationship Id="rId17" Type="http://schemas.openxmlformats.org/officeDocument/2006/relationships/image" Target="../media/image6.svg"/><Relationship Id="rId2" Type="http://schemas.openxmlformats.org/officeDocument/2006/relationships/image" Target="../media/image16.png"/><Relationship Id="rId16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11" Type="http://schemas.openxmlformats.org/officeDocument/2006/relationships/image" Target="../media/image25.svg"/><Relationship Id="rId5" Type="http://schemas.openxmlformats.org/officeDocument/2006/relationships/image" Target="../media/image19.svg"/><Relationship Id="rId15" Type="http://schemas.openxmlformats.org/officeDocument/2006/relationships/image" Target="../media/image3.png"/><Relationship Id="rId10" Type="http://schemas.openxmlformats.org/officeDocument/2006/relationships/image" Target="../media/image24.png"/><Relationship Id="rId19" Type="http://schemas.openxmlformats.org/officeDocument/2006/relationships/image" Target="../media/image9.svg"/><Relationship Id="rId4" Type="http://schemas.openxmlformats.org/officeDocument/2006/relationships/image" Target="../media/image18.png"/><Relationship Id="rId9" Type="http://schemas.openxmlformats.org/officeDocument/2006/relationships/image" Target="../media/image23.svg"/><Relationship Id="rId1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27.jpeg"/><Relationship Id="rId18" Type="http://schemas.openxmlformats.org/officeDocument/2006/relationships/image" Target="../media/image32.png"/><Relationship Id="rId3" Type="http://schemas.openxmlformats.org/officeDocument/2006/relationships/image" Target="../media/image2.svg"/><Relationship Id="rId7" Type="http://schemas.openxmlformats.org/officeDocument/2006/relationships/image" Target="../media/image11.svg"/><Relationship Id="rId12" Type="http://schemas.openxmlformats.org/officeDocument/2006/relationships/image" Target="../media/image26.jpeg"/><Relationship Id="rId17" Type="http://schemas.openxmlformats.org/officeDocument/2006/relationships/image" Target="../media/image31.jpeg"/><Relationship Id="rId2" Type="http://schemas.openxmlformats.org/officeDocument/2006/relationships/image" Target="../media/image1.png"/><Relationship Id="rId16" Type="http://schemas.openxmlformats.org/officeDocument/2006/relationships/image" Target="../media/image30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11" Type="http://schemas.openxmlformats.org/officeDocument/2006/relationships/image" Target="../media/image6.svg"/><Relationship Id="rId5" Type="http://schemas.openxmlformats.org/officeDocument/2006/relationships/image" Target="../media/image3.png"/><Relationship Id="rId15" Type="http://schemas.openxmlformats.org/officeDocument/2006/relationships/image" Target="../media/image29.jpeg"/><Relationship Id="rId10" Type="http://schemas.openxmlformats.org/officeDocument/2006/relationships/image" Target="../media/image5.png"/><Relationship Id="rId19" Type="http://schemas.openxmlformats.org/officeDocument/2006/relationships/image" Target="../media/image33.jpeg"/><Relationship Id="rId4" Type="http://schemas.openxmlformats.org/officeDocument/2006/relationships/image" Target="../media/image4.png"/><Relationship Id="rId9" Type="http://schemas.openxmlformats.org/officeDocument/2006/relationships/image" Target="../media/image9.svg"/><Relationship Id="rId14" Type="http://schemas.openxmlformats.org/officeDocument/2006/relationships/image" Target="../media/image28.jpe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2.svg"/><Relationship Id="rId7" Type="http://schemas.openxmlformats.org/officeDocument/2006/relationships/image" Target="../media/image9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3.png"/><Relationship Id="rId10" Type="http://schemas.openxmlformats.org/officeDocument/2006/relationships/image" Target="../media/image34.png"/><Relationship Id="rId4" Type="http://schemas.openxmlformats.org/officeDocument/2006/relationships/image" Target="../media/image4.png"/><Relationship Id="rId9" Type="http://schemas.openxmlformats.org/officeDocument/2006/relationships/image" Target="../media/image6.sv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36.png"/><Relationship Id="rId3" Type="http://schemas.openxmlformats.org/officeDocument/2006/relationships/image" Target="../media/image2.svg"/><Relationship Id="rId7" Type="http://schemas.openxmlformats.org/officeDocument/2006/relationships/image" Target="../media/image11.svg"/><Relationship Id="rId12" Type="http://schemas.openxmlformats.org/officeDocument/2006/relationships/image" Target="../media/image3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11" Type="http://schemas.openxmlformats.org/officeDocument/2006/relationships/image" Target="../media/image6.svg"/><Relationship Id="rId5" Type="http://schemas.openxmlformats.org/officeDocument/2006/relationships/image" Target="../media/image3.png"/><Relationship Id="rId10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image" Target="../media/image9.sv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38.svg"/><Relationship Id="rId3" Type="http://schemas.openxmlformats.org/officeDocument/2006/relationships/image" Target="../media/image2.svg"/><Relationship Id="rId7" Type="http://schemas.openxmlformats.org/officeDocument/2006/relationships/image" Target="../media/image11.svg"/><Relationship Id="rId12" Type="http://schemas.openxmlformats.org/officeDocument/2006/relationships/image" Target="../media/image3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11" Type="http://schemas.openxmlformats.org/officeDocument/2006/relationships/image" Target="../media/image6.svg"/><Relationship Id="rId5" Type="http://schemas.openxmlformats.org/officeDocument/2006/relationships/image" Target="../media/image3.png"/><Relationship Id="rId15" Type="http://schemas.openxmlformats.org/officeDocument/2006/relationships/image" Target="../media/image40.svg"/><Relationship Id="rId10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image" Target="../media/image9.svg"/><Relationship Id="rId14" Type="http://schemas.openxmlformats.org/officeDocument/2006/relationships/image" Target="../media/image39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42.svg"/><Relationship Id="rId3" Type="http://schemas.openxmlformats.org/officeDocument/2006/relationships/image" Target="../media/image2.svg"/><Relationship Id="rId7" Type="http://schemas.openxmlformats.org/officeDocument/2006/relationships/image" Target="../media/image11.svg"/><Relationship Id="rId12" Type="http://schemas.openxmlformats.org/officeDocument/2006/relationships/image" Target="../media/image4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11" Type="http://schemas.openxmlformats.org/officeDocument/2006/relationships/image" Target="../media/image6.svg"/><Relationship Id="rId5" Type="http://schemas.openxmlformats.org/officeDocument/2006/relationships/image" Target="../media/image3.png"/><Relationship Id="rId10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image" Target="../media/image9.sv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44.svg"/><Relationship Id="rId3" Type="http://schemas.openxmlformats.org/officeDocument/2006/relationships/image" Target="../media/image2.svg"/><Relationship Id="rId7" Type="http://schemas.openxmlformats.org/officeDocument/2006/relationships/image" Target="../media/image11.svg"/><Relationship Id="rId12" Type="http://schemas.openxmlformats.org/officeDocument/2006/relationships/image" Target="../media/image4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11" Type="http://schemas.openxmlformats.org/officeDocument/2006/relationships/image" Target="../media/image6.svg"/><Relationship Id="rId5" Type="http://schemas.openxmlformats.org/officeDocument/2006/relationships/image" Target="../media/image3.png"/><Relationship Id="rId10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image" Target="../media/image9.sv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44.svg"/><Relationship Id="rId3" Type="http://schemas.openxmlformats.org/officeDocument/2006/relationships/image" Target="../media/image2.svg"/><Relationship Id="rId7" Type="http://schemas.openxmlformats.org/officeDocument/2006/relationships/image" Target="../media/image11.svg"/><Relationship Id="rId12" Type="http://schemas.openxmlformats.org/officeDocument/2006/relationships/image" Target="../media/image43.png"/><Relationship Id="rId17" Type="http://schemas.openxmlformats.org/officeDocument/2006/relationships/image" Target="../media/image48.svg"/><Relationship Id="rId2" Type="http://schemas.openxmlformats.org/officeDocument/2006/relationships/image" Target="../media/image1.png"/><Relationship Id="rId16" Type="http://schemas.openxmlformats.org/officeDocument/2006/relationships/image" Target="../media/image4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11" Type="http://schemas.openxmlformats.org/officeDocument/2006/relationships/image" Target="../media/image6.svg"/><Relationship Id="rId5" Type="http://schemas.openxmlformats.org/officeDocument/2006/relationships/image" Target="../media/image3.png"/><Relationship Id="rId15" Type="http://schemas.openxmlformats.org/officeDocument/2006/relationships/image" Target="../media/image46.svg"/><Relationship Id="rId10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image" Target="../media/image9.svg"/><Relationship Id="rId14" Type="http://schemas.openxmlformats.org/officeDocument/2006/relationships/image" Target="../media/image45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50.svg"/><Relationship Id="rId3" Type="http://schemas.openxmlformats.org/officeDocument/2006/relationships/image" Target="../media/image2.svg"/><Relationship Id="rId7" Type="http://schemas.openxmlformats.org/officeDocument/2006/relationships/image" Target="../media/image11.svg"/><Relationship Id="rId12" Type="http://schemas.openxmlformats.org/officeDocument/2006/relationships/image" Target="../media/image4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11" Type="http://schemas.openxmlformats.org/officeDocument/2006/relationships/image" Target="../media/image6.svg"/><Relationship Id="rId5" Type="http://schemas.openxmlformats.org/officeDocument/2006/relationships/image" Target="../media/image3.png"/><Relationship Id="rId10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image" Target="../media/image9.sv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52.svg"/><Relationship Id="rId3" Type="http://schemas.openxmlformats.org/officeDocument/2006/relationships/image" Target="../media/image2.svg"/><Relationship Id="rId7" Type="http://schemas.openxmlformats.org/officeDocument/2006/relationships/image" Target="../media/image11.svg"/><Relationship Id="rId12" Type="http://schemas.openxmlformats.org/officeDocument/2006/relationships/image" Target="../media/image5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11" Type="http://schemas.openxmlformats.org/officeDocument/2006/relationships/image" Target="../media/image6.svg"/><Relationship Id="rId5" Type="http://schemas.openxmlformats.org/officeDocument/2006/relationships/image" Target="../media/image3.png"/><Relationship Id="rId10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image" Target="../media/image9.sv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53.jpeg"/><Relationship Id="rId7" Type="http://schemas.openxmlformats.org/officeDocument/2006/relationships/image" Target="../media/image10.png"/><Relationship Id="rId12" Type="http://schemas.openxmlformats.org/officeDocument/2006/relationships/image" Target="../media/image6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11" Type="http://schemas.openxmlformats.org/officeDocument/2006/relationships/image" Target="../media/image5.png"/><Relationship Id="rId5" Type="http://schemas.openxmlformats.org/officeDocument/2006/relationships/image" Target="../media/image2.svg"/><Relationship Id="rId10" Type="http://schemas.openxmlformats.org/officeDocument/2006/relationships/image" Target="../media/image9.svg"/><Relationship Id="rId4" Type="http://schemas.openxmlformats.org/officeDocument/2006/relationships/image" Target="../media/image1.png"/><Relationship Id="rId9" Type="http://schemas.openxmlformats.org/officeDocument/2006/relationships/image" Target="../media/image8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12" Type="http://schemas.openxmlformats.org/officeDocument/2006/relationships/image" Target="../media/image11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sv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6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4260565" y="6301594"/>
            <a:ext cx="4318178" cy="4247517"/>
          </a:xfrm>
          <a:custGeom>
            <a:avLst/>
            <a:gdLst/>
            <a:ahLst/>
            <a:cxnLst/>
            <a:rect l="l" t="t" r="r" b="b"/>
            <a:pathLst>
              <a:path w="4318178" h="4247517">
                <a:moveTo>
                  <a:pt x="0" y="0"/>
                </a:moveTo>
                <a:lnTo>
                  <a:pt x="4318178" y="0"/>
                </a:lnTo>
                <a:lnTo>
                  <a:pt x="4318178" y="4247517"/>
                </a:lnTo>
                <a:lnTo>
                  <a:pt x="0" y="424751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332694" y="7248973"/>
            <a:ext cx="10243136" cy="7793319"/>
          </a:xfrm>
          <a:custGeom>
            <a:avLst/>
            <a:gdLst/>
            <a:ahLst/>
            <a:cxnLst/>
            <a:rect l="l" t="t" r="r" b="b"/>
            <a:pathLst>
              <a:path w="10243136" h="7793319">
                <a:moveTo>
                  <a:pt x="0" y="0"/>
                </a:moveTo>
                <a:lnTo>
                  <a:pt x="10243136" y="0"/>
                </a:lnTo>
                <a:lnTo>
                  <a:pt x="10243136" y="7793319"/>
                </a:lnTo>
                <a:lnTo>
                  <a:pt x="0" y="779331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-4461504" y="4264192"/>
            <a:ext cx="7696640" cy="6891700"/>
          </a:xfrm>
          <a:custGeom>
            <a:avLst/>
            <a:gdLst/>
            <a:ahLst/>
            <a:cxnLst/>
            <a:rect l="l" t="t" r="r" b="b"/>
            <a:pathLst>
              <a:path w="7696640" h="6891700">
                <a:moveTo>
                  <a:pt x="0" y="0"/>
                </a:moveTo>
                <a:lnTo>
                  <a:pt x="7696640" y="0"/>
                </a:lnTo>
                <a:lnTo>
                  <a:pt x="7696640" y="6891700"/>
                </a:lnTo>
                <a:lnTo>
                  <a:pt x="0" y="68917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558571" y="3743093"/>
            <a:ext cx="17819473" cy="16032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111"/>
              </a:lnSpc>
            </a:pPr>
            <a:r>
              <a:rPr lang="en-US" sz="6300">
                <a:solidFill>
                  <a:srgbClr val="163866"/>
                </a:solidFill>
                <a:latin typeface="Waffle Soft"/>
                <a:ea typeface="Waffle Soft"/>
                <a:cs typeface="Waffle Soft"/>
                <a:sym typeface="Waffle Soft"/>
              </a:rPr>
              <a:t>Egypt's Energy Landscape:</a:t>
            </a:r>
          </a:p>
          <a:p>
            <a:pPr algn="ctr">
              <a:lnSpc>
                <a:spcPts val="6111"/>
              </a:lnSpc>
            </a:pPr>
            <a:r>
              <a:rPr lang="en-US" sz="6300">
                <a:solidFill>
                  <a:srgbClr val="163866"/>
                </a:solidFill>
                <a:latin typeface="Waffle Soft"/>
                <a:ea typeface="Waffle Soft"/>
                <a:cs typeface="Waffle Soft"/>
                <a:sym typeface="Waffle Soft"/>
              </a:rPr>
              <a:t> A Comparative Analysis</a:t>
            </a:r>
          </a:p>
        </p:txBody>
      </p:sp>
      <p:sp>
        <p:nvSpPr>
          <p:cNvPr id="6" name="Freeform 6"/>
          <p:cNvSpPr/>
          <p:nvPr/>
        </p:nvSpPr>
        <p:spPr>
          <a:xfrm>
            <a:off x="13388135" y="-440990"/>
            <a:ext cx="5502895" cy="2211163"/>
          </a:xfrm>
          <a:custGeom>
            <a:avLst/>
            <a:gdLst/>
            <a:ahLst/>
            <a:cxnLst/>
            <a:rect l="l" t="t" r="r" b="b"/>
            <a:pathLst>
              <a:path w="5502895" h="2211163">
                <a:moveTo>
                  <a:pt x="0" y="0"/>
                </a:moveTo>
                <a:lnTo>
                  <a:pt x="5502895" y="0"/>
                </a:lnTo>
                <a:lnTo>
                  <a:pt x="5502895" y="2211163"/>
                </a:lnTo>
                <a:lnTo>
                  <a:pt x="0" y="221116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-207680" y="242724"/>
            <a:ext cx="3159985" cy="3606259"/>
          </a:xfrm>
          <a:custGeom>
            <a:avLst/>
            <a:gdLst/>
            <a:ahLst/>
            <a:cxnLst/>
            <a:rect l="l" t="t" r="r" b="b"/>
            <a:pathLst>
              <a:path w="3159985" h="3606259">
                <a:moveTo>
                  <a:pt x="0" y="0"/>
                </a:moveTo>
                <a:lnTo>
                  <a:pt x="3159985" y="0"/>
                </a:lnTo>
                <a:lnTo>
                  <a:pt x="3159985" y="3606259"/>
                </a:lnTo>
                <a:lnTo>
                  <a:pt x="0" y="360625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rot="-1908845">
            <a:off x="15437806" y="2096715"/>
            <a:ext cx="5108668" cy="4114800"/>
          </a:xfrm>
          <a:custGeom>
            <a:avLst/>
            <a:gdLst/>
            <a:ahLst/>
            <a:cxnLst/>
            <a:rect l="l" t="t" r="r" b="b"/>
            <a:pathLst>
              <a:path w="5108668" h="4114800">
                <a:moveTo>
                  <a:pt x="0" y="0"/>
                </a:moveTo>
                <a:lnTo>
                  <a:pt x="5108668" y="0"/>
                </a:lnTo>
                <a:lnTo>
                  <a:pt x="510866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rot="1433484">
            <a:off x="6331232" y="-673699"/>
            <a:ext cx="2658742" cy="2924616"/>
          </a:xfrm>
          <a:custGeom>
            <a:avLst/>
            <a:gdLst/>
            <a:ahLst/>
            <a:cxnLst/>
            <a:rect l="l" t="t" r="r" b="b"/>
            <a:pathLst>
              <a:path w="2658742" h="2924616">
                <a:moveTo>
                  <a:pt x="0" y="0"/>
                </a:moveTo>
                <a:lnTo>
                  <a:pt x="2658742" y="0"/>
                </a:lnTo>
                <a:lnTo>
                  <a:pt x="2658742" y="2924616"/>
                </a:lnTo>
                <a:lnTo>
                  <a:pt x="0" y="2924616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7715236" y="5964989"/>
            <a:ext cx="2857528" cy="1903828"/>
          </a:xfrm>
          <a:custGeom>
            <a:avLst/>
            <a:gdLst/>
            <a:ahLst/>
            <a:cxnLst/>
            <a:rect l="l" t="t" r="r" b="b"/>
            <a:pathLst>
              <a:path w="2857528" h="1903828">
                <a:moveTo>
                  <a:pt x="0" y="0"/>
                </a:moveTo>
                <a:lnTo>
                  <a:pt x="2857528" y="0"/>
                </a:lnTo>
                <a:lnTo>
                  <a:pt x="2857528" y="1903828"/>
                </a:lnTo>
                <a:lnTo>
                  <a:pt x="0" y="1903828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6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873052" y="561624"/>
            <a:ext cx="6545941" cy="9048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41"/>
              </a:lnSpc>
            </a:pPr>
            <a:r>
              <a:rPr lang="en-US" sz="6846">
                <a:solidFill>
                  <a:srgbClr val="163866"/>
                </a:solidFill>
                <a:latin typeface="Waffle Soft"/>
                <a:ea typeface="Waffle Soft"/>
                <a:cs typeface="Waffle Soft"/>
                <a:sym typeface="Waffle Soft"/>
              </a:rPr>
              <a:t>Our Team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4168122" y="4403603"/>
            <a:ext cx="6466098" cy="669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 spc="43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Amr Fawzy Abdelhamed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168122" y="2627221"/>
            <a:ext cx="6347411" cy="669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 spc="43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Ahmed Abdelaty Gohar</a:t>
            </a:r>
          </a:p>
        </p:txBody>
      </p:sp>
      <p:sp>
        <p:nvSpPr>
          <p:cNvPr id="5" name="Freeform 5"/>
          <p:cNvSpPr/>
          <p:nvPr/>
        </p:nvSpPr>
        <p:spPr>
          <a:xfrm>
            <a:off x="14619138" y="6654300"/>
            <a:ext cx="3959605" cy="3894811"/>
          </a:xfrm>
          <a:custGeom>
            <a:avLst/>
            <a:gdLst/>
            <a:ahLst/>
            <a:cxnLst/>
            <a:rect l="l" t="t" r="r" b="b"/>
            <a:pathLst>
              <a:path w="3959605" h="3894811">
                <a:moveTo>
                  <a:pt x="0" y="0"/>
                </a:moveTo>
                <a:lnTo>
                  <a:pt x="3959605" y="0"/>
                </a:lnTo>
                <a:lnTo>
                  <a:pt x="3959605" y="3894811"/>
                </a:lnTo>
                <a:lnTo>
                  <a:pt x="0" y="389481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-1716402" y="6143695"/>
            <a:ext cx="5490204" cy="4916020"/>
          </a:xfrm>
          <a:custGeom>
            <a:avLst/>
            <a:gdLst/>
            <a:ahLst/>
            <a:cxnLst/>
            <a:rect l="l" t="t" r="r" b="b"/>
            <a:pathLst>
              <a:path w="5490204" h="4916020">
                <a:moveTo>
                  <a:pt x="0" y="0"/>
                </a:moveTo>
                <a:lnTo>
                  <a:pt x="5490204" y="0"/>
                </a:lnTo>
                <a:lnTo>
                  <a:pt x="5490204" y="4916020"/>
                </a:lnTo>
                <a:lnTo>
                  <a:pt x="0" y="491602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9997922" y="8085591"/>
            <a:ext cx="4621216" cy="3515975"/>
          </a:xfrm>
          <a:custGeom>
            <a:avLst/>
            <a:gdLst/>
            <a:ahLst/>
            <a:cxnLst/>
            <a:rect l="l" t="t" r="r" b="b"/>
            <a:pathLst>
              <a:path w="4621216" h="3515975">
                <a:moveTo>
                  <a:pt x="0" y="0"/>
                </a:moveTo>
                <a:lnTo>
                  <a:pt x="4621216" y="0"/>
                </a:lnTo>
                <a:lnTo>
                  <a:pt x="4621216" y="3515975"/>
                </a:lnTo>
                <a:lnTo>
                  <a:pt x="0" y="351597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rot="1433484">
            <a:off x="2124354" y="-514935"/>
            <a:ext cx="2658742" cy="2924616"/>
          </a:xfrm>
          <a:custGeom>
            <a:avLst/>
            <a:gdLst/>
            <a:ahLst/>
            <a:cxnLst/>
            <a:rect l="l" t="t" r="r" b="b"/>
            <a:pathLst>
              <a:path w="2658742" h="2924616">
                <a:moveTo>
                  <a:pt x="0" y="0"/>
                </a:moveTo>
                <a:lnTo>
                  <a:pt x="2658742" y="0"/>
                </a:lnTo>
                <a:lnTo>
                  <a:pt x="2658742" y="2924616"/>
                </a:lnTo>
                <a:lnTo>
                  <a:pt x="0" y="292461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rot="-2952721">
            <a:off x="13676831" y="-428566"/>
            <a:ext cx="2658742" cy="2924616"/>
          </a:xfrm>
          <a:custGeom>
            <a:avLst/>
            <a:gdLst/>
            <a:ahLst/>
            <a:cxnLst/>
            <a:rect l="l" t="t" r="r" b="b"/>
            <a:pathLst>
              <a:path w="2658742" h="2924616">
                <a:moveTo>
                  <a:pt x="0" y="0"/>
                </a:moveTo>
                <a:lnTo>
                  <a:pt x="2658742" y="0"/>
                </a:lnTo>
                <a:lnTo>
                  <a:pt x="2658742" y="2924616"/>
                </a:lnTo>
                <a:lnTo>
                  <a:pt x="0" y="292461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 rot="-1908845">
            <a:off x="14703611" y="951350"/>
            <a:ext cx="6881994" cy="5543134"/>
          </a:xfrm>
          <a:custGeom>
            <a:avLst/>
            <a:gdLst/>
            <a:ahLst/>
            <a:cxnLst/>
            <a:rect l="l" t="t" r="r" b="b"/>
            <a:pathLst>
              <a:path w="6881994" h="5543134">
                <a:moveTo>
                  <a:pt x="0" y="0"/>
                </a:moveTo>
                <a:lnTo>
                  <a:pt x="6881994" y="0"/>
                </a:lnTo>
                <a:lnTo>
                  <a:pt x="6881994" y="5543133"/>
                </a:lnTo>
                <a:lnTo>
                  <a:pt x="0" y="554313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 rot="1156030">
            <a:off x="-2326381" y="931484"/>
            <a:ext cx="6140884" cy="4946203"/>
          </a:xfrm>
          <a:custGeom>
            <a:avLst/>
            <a:gdLst/>
            <a:ahLst/>
            <a:cxnLst/>
            <a:rect l="l" t="t" r="r" b="b"/>
            <a:pathLst>
              <a:path w="6140884" h="4946203">
                <a:moveTo>
                  <a:pt x="0" y="0"/>
                </a:moveTo>
                <a:lnTo>
                  <a:pt x="6140884" y="0"/>
                </a:lnTo>
                <a:lnTo>
                  <a:pt x="6140884" y="4946203"/>
                </a:lnTo>
                <a:lnTo>
                  <a:pt x="0" y="494620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 rot="-522393">
            <a:off x="2927061" y="8817310"/>
            <a:ext cx="7315200" cy="2939380"/>
          </a:xfrm>
          <a:custGeom>
            <a:avLst/>
            <a:gdLst/>
            <a:ahLst/>
            <a:cxnLst/>
            <a:rect l="l" t="t" r="r" b="b"/>
            <a:pathLst>
              <a:path w="7315200" h="2939380">
                <a:moveTo>
                  <a:pt x="0" y="0"/>
                </a:moveTo>
                <a:lnTo>
                  <a:pt x="7315200" y="0"/>
                </a:lnTo>
                <a:lnTo>
                  <a:pt x="7315200" y="2939380"/>
                </a:lnTo>
                <a:lnTo>
                  <a:pt x="0" y="293938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4168122" y="3514603"/>
            <a:ext cx="7687961" cy="669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 spc="43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Mahmoud Abdelnaby Refaat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4158182" y="5292603"/>
            <a:ext cx="10848020" cy="669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 spc="43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Mahmoud Magdy Elsaeed Abdelrahman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6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5997669" y="8010272"/>
            <a:ext cx="2581074" cy="2538839"/>
          </a:xfrm>
          <a:custGeom>
            <a:avLst/>
            <a:gdLst/>
            <a:ahLst/>
            <a:cxnLst/>
            <a:rect l="l" t="t" r="r" b="b"/>
            <a:pathLst>
              <a:path w="2581074" h="2538839">
                <a:moveTo>
                  <a:pt x="0" y="0"/>
                </a:moveTo>
                <a:lnTo>
                  <a:pt x="2581074" y="0"/>
                </a:lnTo>
                <a:lnTo>
                  <a:pt x="2581074" y="2538839"/>
                </a:lnTo>
                <a:lnTo>
                  <a:pt x="0" y="253883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1716402" y="7517043"/>
            <a:ext cx="3956452" cy="3542673"/>
          </a:xfrm>
          <a:custGeom>
            <a:avLst/>
            <a:gdLst/>
            <a:ahLst/>
            <a:cxnLst/>
            <a:rect l="l" t="t" r="r" b="b"/>
            <a:pathLst>
              <a:path w="3956452" h="3542673">
                <a:moveTo>
                  <a:pt x="0" y="0"/>
                </a:moveTo>
                <a:lnTo>
                  <a:pt x="3956452" y="0"/>
                </a:lnTo>
                <a:lnTo>
                  <a:pt x="3956452" y="3542672"/>
                </a:lnTo>
                <a:lnTo>
                  <a:pt x="0" y="354267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1017547" y="8861356"/>
            <a:ext cx="3601591" cy="2740211"/>
          </a:xfrm>
          <a:custGeom>
            <a:avLst/>
            <a:gdLst/>
            <a:ahLst/>
            <a:cxnLst/>
            <a:rect l="l" t="t" r="r" b="b"/>
            <a:pathLst>
              <a:path w="3601591" h="2740211">
                <a:moveTo>
                  <a:pt x="0" y="0"/>
                </a:moveTo>
                <a:lnTo>
                  <a:pt x="3601591" y="0"/>
                </a:lnTo>
                <a:lnTo>
                  <a:pt x="3601591" y="2740210"/>
                </a:lnTo>
                <a:lnTo>
                  <a:pt x="0" y="274021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-522393">
            <a:off x="2948237" y="9095483"/>
            <a:ext cx="6729805" cy="2704158"/>
          </a:xfrm>
          <a:custGeom>
            <a:avLst/>
            <a:gdLst/>
            <a:ahLst/>
            <a:cxnLst/>
            <a:rect l="l" t="t" r="r" b="b"/>
            <a:pathLst>
              <a:path w="6729805" h="2704158">
                <a:moveTo>
                  <a:pt x="0" y="0"/>
                </a:moveTo>
                <a:lnTo>
                  <a:pt x="6729806" y="0"/>
                </a:lnTo>
                <a:lnTo>
                  <a:pt x="6729806" y="2704159"/>
                </a:lnTo>
                <a:lnTo>
                  <a:pt x="0" y="270415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6699632" y="2257018"/>
            <a:ext cx="6948401" cy="3899790"/>
          </a:xfrm>
          <a:custGeom>
            <a:avLst/>
            <a:gdLst/>
            <a:ahLst/>
            <a:cxnLst/>
            <a:rect l="l" t="t" r="r" b="b"/>
            <a:pathLst>
              <a:path w="6948401" h="3899790">
                <a:moveTo>
                  <a:pt x="0" y="0"/>
                </a:moveTo>
                <a:lnTo>
                  <a:pt x="6948401" y="0"/>
                </a:lnTo>
                <a:lnTo>
                  <a:pt x="6948401" y="3899790"/>
                </a:lnTo>
                <a:lnTo>
                  <a:pt x="0" y="389979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3648033" y="2155700"/>
            <a:ext cx="3884974" cy="3884974"/>
          </a:xfrm>
          <a:custGeom>
            <a:avLst/>
            <a:gdLst/>
            <a:ahLst/>
            <a:cxnLst/>
            <a:rect l="l" t="t" r="r" b="b"/>
            <a:pathLst>
              <a:path w="3884974" h="3884974">
                <a:moveTo>
                  <a:pt x="0" y="0"/>
                </a:moveTo>
                <a:lnTo>
                  <a:pt x="3884974" y="0"/>
                </a:lnTo>
                <a:lnTo>
                  <a:pt x="3884974" y="3884974"/>
                </a:lnTo>
                <a:lnTo>
                  <a:pt x="0" y="3884974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243270" y="2026119"/>
            <a:ext cx="6882190" cy="4361588"/>
          </a:xfrm>
          <a:custGeom>
            <a:avLst/>
            <a:gdLst/>
            <a:ahLst/>
            <a:cxnLst/>
            <a:rect l="l" t="t" r="r" b="b"/>
            <a:pathLst>
              <a:path w="6882190" h="4361588">
                <a:moveTo>
                  <a:pt x="0" y="0"/>
                </a:moveTo>
                <a:lnTo>
                  <a:pt x="6882190" y="0"/>
                </a:lnTo>
                <a:lnTo>
                  <a:pt x="6882190" y="4361588"/>
                </a:lnTo>
                <a:lnTo>
                  <a:pt x="0" y="4361588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3123769" y="397459"/>
            <a:ext cx="11720781" cy="9048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41"/>
              </a:lnSpc>
            </a:pPr>
            <a:r>
              <a:rPr lang="en-US" sz="6846">
                <a:solidFill>
                  <a:srgbClr val="163866"/>
                </a:solidFill>
                <a:latin typeface="Waffle Soft"/>
                <a:ea typeface="Waffle Soft"/>
                <a:cs typeface="Waffle Soft"/>
                <a:sym typeface="Waffle Soft"/>
              </a:rPr>
              <a:t>Energy in Egypt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6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728610" y="2598370"/>
            <a:ext cx="5855779" cy="5855779"/>
          </a:xfrm>
          <a:custGeom>
            <a:avLst/>
            <a:gdLst/>
            <a:ahLst/>
            <a:cxnLst/>
            <a:rect l="l" t="t" r="r" b="b"/>
            <a:pathLst>
              <a:path w="5855779" h="5855779">
                <a:moveTo>
                  <a:pt x="0" y="0"/>
                </a:moveTo>
                <a:lnTo>
                  <a:pt x="5855779" y="0"/>
                </a:lnTo>
                <a:lnTo>
                  <a:pt x="5855779" y="5855779"/>
                </a:lnTo>
                <a:lnTo>
                  <a:pt x="0" y="585577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 rot="5400000">
            <a:off x="-2742935" y="674860"/>
            <a:ext cx="12798869" cy="8937280"/>
            <a:chOff x="0" y="0"/>
            <a:chExt cx="660400" cy="461149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660400" cy="461149"/>
            </a:xfrm>
            <a:custGeom>
              <a:avLst/>
              <a:gdLst/>
              <a:ahLst/>
              <a:cxnLst/>
              <a:rect l="l" t="t" r="r" b="b"/>
              <a:pathLst>
                <a:path w="660400" h="461149">
                  <a:moveTo>
                    <a:pt x="220252" y="19070"/>
                  </a:moveTo>
                  <a:cubicBezTo>
                    <a:pt x="254000" y="7556"/>
                    <a:pt x="292600" y="0"/>
                    <a:pt x="330378" y="0"/>
                  </a:cubicBezTo>
                  <a:cubicBezTo>
                    <a:pt x="368157" y="0"/>
                    <a:pt x="404509" y="6476"/>
                    <a:pt x="438009" y="17990"/>
                  </a:cubicBezTo>
                  <a:cubicBezTo>
                    <a:pt x="438723" y="18350"/>
                    <a:pt x="439435" y="18350"/>
                    <a:pt x="440148" y="18710"/>
                  </a:cubicBezTo>
                  <a:cubicBezTo>
                    <a:pt x="565955" y="64765"/>
                    <a:pt x="658618" y="186379"/>
                    <a:pt x="660400" y="320691"/>
                  </a:cubicBezTo>
                  <a:lnTo>
                    <a:pt x="660400" y="461149"/>
                  </a:lnTo>
                  <a:lnTo>
                    <a:pt x="0" y="461149"/>
                  </a:lnTo>
                  <a:lnTo>
                    <a:pt x="0" y="320795"/>
                  </a:lnTo>
                  <a:cubicBezTo>
                    <a:pt x="1782" y="185660"/>
                    <a:pt x="93019" y="64045"/>
                    <a:pt x="220252" y="1907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66675" cap="sq">
              <a:solidFill>
                <a:srgbClr val="BEC8DA"/>
              </a:solidFill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88900"/>
              <a:ext cx="660400" cy="37224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728610" y="2312620"/>
            <a:ext cx="5855779" cy="5855779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6584389" y="1188990"/>
            <a:ext cx="1216244" cy="1216244"/>
          </a:xfrm>
          <a:custGeom>
            <a:avLst/>
            <a:gdLst/>
            <a:ahLst/>
            <a:cxnLst/>
            <a:rect l="l" t="t" r="r" b="b"/>
            <a:pathLst>
              <a:path w="1216244" h="1216244">
                <a:moveTo>
                  <a:pt x="0" y="0"/>
                </a:moveTo>
                <a:lnTo>
                  <a:pt x="1216244" y="0"/>
                </a:lnTo>
                <a:lnTo>
                  <a:pt x="1216244" y="1216244"/>
                </a:lnTo>
                <a:lnTo>
                  <a:pt x="0" y="121624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10" name="Group 10"/>
          <p:cNvGrpSpPr/>
          <p:nvPr/>
        </p:nvGrpSpPr>
        <p:grpSpPr>
          <a:xfrm>
            <a:off x="6584389" y="1099966"/>
            <a:ext cx="1216244" cy="1216244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22359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52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3" name="Freeform 13"/>
          <p:cNvSpPr/>
          <p:nvPr/>
        </p:nvSpPr>
        <p:spPr>
          <a:xfrm>
            <a:off x="7197129" y="6351882"/>
            <a:ext cx="1216244" cy="1216244"/>
          </a:xfrm>
          <a:custGeom>
            <a:avLst/>
            <a:gdLst/>
            <a:ahLst/>
            <a:cxnLst/>
            <a:rect l="l" t="t" r="r" b="b"/>
            <a:pathLst>
              <a:path w="1216244" h="1216244">
                <a:moveTo>
                  <a:pt x="0" y="0"/>
                </a:moveTo>
                <a:lnTo>
                  <a:pt x="1216244" y="0"/>
                </a:lnTo>
                <a:lnTo>
                  <a:pt x="1216244" y="1216244"/>
                </a:lnTo>
                <a:lnTo>
                  <a:pt x="0" y="121624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14" name="Group 14"/>
          <p:cNvGrpSpPr/>
          <p:nvPr/>
        </p:nvGrpSpPr>
        <p:grpSpPr>
          <a:xfrm>
            <a:off x="7197129" y="6262859"/>
            <a:ext cx="1216244" cy="1216244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68D55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52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7" name="Freeform 17"/>
          <p:cNvSpPr/>
          <p:nvPr/>
        </p:nvSpPr>
        <p:spPr>
          <a:xfrm>
            <a:off x="7197129" y="2810927"/>
            <a:ext cx="1216244" cy="1216244"/>
          </a:xfrm>
          <a:custGeom>
            <a:avLst/>
            <a:gdLst/>
            <a:ahLst/>
            <a:cxnLst/>
            <a:rect l="l" t="t" r="r" b="b"/>
            <a:pathLst>
              <a:path w="1216244" h="1216244">
                <a:moveTo>
                  <a:pt x="0" y="0"/>
                </a:moveTo>
                <a:lnTo>
                  <a:pt x="1216244" y="0"/>
                </a:lnTo>
                <a:lnTo>
                  <a:pt x="1216244" y="1216244"/>
                </a:lnTo>
                <a:lnTo>
                  <a:pt x="0" y="121624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18" name="Group 18"/>
          <p:cNvGrpSpPr/>
          <p:nvPr/>
        </p:nvGrpSpPr>
        <p:grpSpPr>
          <a:xfrm>
            <a:off x="7197129" y="2721904"/>
            <a:ext cx="1216244" cy="1216244"/>
            <a:chOff x="0" y="0"/>
            <a:chExt cx="812800" cy="8128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D6298"/>
            </a:solidFill>
          </p:spPr>
        </p:sp>
        <p:sp>
          <p:nvSpPr>
            <p:cNvPr id="20" name="TextBox 20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52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1" name="Freeform 21"/>
          <p:cNvSpPr/>
          <p:nvPr/>
        </p:nvSpPr>
        <p:spPr>
          <a:xfrm>
            <a:off x="7601661" y="4579890"/>
            <a:ext cx="1216244" cy="1216244"/>
          </a:xfrm>
          <a:custGeom>
            <a:avLst/>
            <a:gdLst/>
            <a:ahLst/>
            <a:cxnLst/>
            <a:rect l="l" t="t" r="r" b="b"/>
            <a:pathLst>
              <a:path w="1216244" h="1216244">
                <a:moveTo>
                  <a:pt x="0" y="0"/>
                </a:moveTo>
                <a:lnTo>
                  <a:pt x="1216244" y="0"/>
                </a:lnTo>
                <a:lnTo>
                  <a:pt x="1216244" y="1216244"/>
                </a:lnTo>
                <a:lnTo>
                  <a:pt x="0" y="121624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22" name="Group 22"/>
          <p:cNvGrpSpPr/>
          <p:nvPr/>
        </p:nvGrpSpPr>
        <p:grpSpPr>
          <a:xfrm>
            <a:off x="7601661" y="4490866"/>
            <a:ext cx="1216244" cy="1216244"/>
            <a:chOff x="0" y="0"/>
            <a:chExt cx="812800" cy="81280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BEC8DA"/>
            </a:solidFill>
          </p:spPr>
        </p:sp>
        <p:sp>
          <p:nvSpPr>
            <p:cNvPr id="24" name="TextBox 2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52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5" name="Freeform 25"/>
          <p:cNvSpPr/>
          <p:nvPr/>
        </p:nvSpPr>
        <p:spPr>
          <a:xfrm>
            <a:off x="6976824" y="1448022"/>
            <a:ext cx="431374" cy="517391"/>
          </a:xfrm>
          <a:custGeom>
            <a:avLst/>
            <a:gdLst/>
            <a:ahLst/>
            <a:cxnLst/>
            <a:rect l="l" t="t" r="r" b="b"/>
            <a:pathLst>
              <a:path w="431374" h="517391">
                <a:moveTo>
                  <a:pt x="0" y="0"/>
                </a:moveTo>
                <a:lnTo>
                  <a:pt x="431374" y="0"/>
                </a:lnTo>
                <a:lnTo>
                  <a:pt x="431374" y="517391"/>
                </a:lnTo>
                <a:lnTo>
                  <a:pt x="0" y="51739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26" name="Freeform 26"/>
          <p:cNvSpPr/>
          <p:nvPr/>
        </p:nvSpPr>
        <p:spPr>
          <a:xfrm>
            <a:off x="7505196" y="6570925"/>
            <a:ext cx="600110" cy="600110"/>
          </a:xfrm>
          <a:custGeom>
            <a:avLst/>
            <a:gdLst/>
            <a:ahLst/>
            <a:cxnLst/>
            <a:rect l="l" t="t" r="r" b="b"/>
            <a:pathLst>
              <a:path w="600110" h="600110">
                <a:moveTo>
                  <a:pt x="0" y="0"/>
                </a:moveTo>
                <a:lnTo>
                  <a:pt x="600110" y="0"/>
                </a:lnTo>
                <a:lnTo>
                  <a:pt x="600110" y="600111"/>
                </a:lnTo>
                <a:lnTo>
                  <a:pt x="0" y="60011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27" name="Freeform 27"/>
          <p:cNvSpPr/>
          <p:nvPr/>
        </p:nvSpPr>
        <p:spPr>
          <a:xfrm>
            <a:off x="7505196" y="3074482"/>
            <a:ext cx="600110" cy="600110"/>
          </a:xfrm>
          <a:custGeom>
            <a:avLst/>
            <a:gdLst/>
            <a:ahLst/>
            <a:cxnLst/>
            <a:rect l="l" t="t" r="r" b="b"/>
            <a:pathLst>
              <a:path w="600110" h="600110">
                <a:moveTo>
                  <a:pt x="0" y="0"/>
                </a:moveTo>
                <a:lnTo>
                  <a:pt x="600110" y="0"/>
                </a:lnTo>
                <a:lnTo>
                  <a:pt x="600110" y="600111"/>
                </a:lnTo>
                <a:lnTo>
                  <a:pt x="0" y="60011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28" name="Freeform 28"/>
          <p:cNvSpPr/>
          <p:nvPr/>
        </p:nvSpPr>
        <p:spPr>
          <a:xfrm>
            <a:off x="7949354" y="4825984"/>
            <a:ext cx="520857" cy="543267"/>
          </a:xfrm>
          <a:custGeom>
            <a:avLst/>
            <a:gdLst/>
            <a:ahLst/>
            <a:cxnLst/>
            <a:rect l="l" t="t" r="r" b="b"/>
            <a:pathLst>
              <a:path w="520857" h="543267">
                <a:moveTo>
                  <a:pt x="0" y="0"/>
                </a:moveTo>
                <a:lnTo>
                  <a:pt x="520858" y="0"/>
                </a:lnTo>
                <a:lnTo>
                  <a:pt x="520858" y="543267"/>
                </a:lnTo>
                <a:lnTo>
                  <a:pt x="0" y="54326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29" name="TextBox 29"/>
          <p:cNvSpPr txBox="1"/>
          <p:nvPr/>
        </p:nvSpPr>
        <p:spPr>
          <a:xfrm>
            <a:off x="7765489" y="1366973"/>
            <a:ext cx="1409248" cy="7175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5600"/>
              </a:lnSpc>
            </a:pPr>
            <a:r>
              <a:rPr lang="en-US" sz="5000" b="1">
                <a:solidFill>
                  <a:srgbClr val="122359"/>
                </a:solidFill>
                <a:latin typeface="TT Fors Bold"/>
                <a:ea typeface="TT Fors Bold"/>
                <a:cs typeface="TT Fors Bold"/>
                <a:sym typeface="TT Fors Bold"/>
              </a:rPr>
              <a:t>01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8413373" y="2988910"/>
            <a:ext cx="1409248" cy="7175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5600"/>
              </a:lnSpc>
            </a:pPr>
            <a:r>
              <a:rPr lang="en-US" sz="5000" b="1">
                <a:solidFill>
                  <a:srgbClr val="122359"/>
                </a:solidFill>
                <a:latin typeface="TT Fors Bold"/>
                <a:ea typeface="TT Fors Bold"/>
                <a:cs typeface="TT Fors Bold"/>
                <a:sym typeface="TT Fors Bold"/>
              </a:rPr>
              <a:t>02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8413373" y="6547181"/>
            <a:ext cx="1409248" cy="7175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5600"/>
              </a:lnSpc>
            </a:pPr>
            <a:r>
              <a:rPr lang="en-US" sz="5000" b="1">
                <a:solidFill>
                  <a:srgbClr val="122359"/>
                </a:solidFill>
                <a:latin typeface="TT Fors Bold"/>
                <a:ea typeface="TT Fors Bold"/>
                <a:cs typeface="TT Fors Bold"/>
                <a:sym typeface="TT Fors Bold"/>
              </a:rPr>
              <a:t>04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8817905" y="4757873"/>
            <a:ext cx="1409248" cy="7175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5600"/>
              </a:lnSpc>
            </a:pPr>
            <a:r>
              <a:rPr lang="en-US" sz="5000" b="1">
                <a:solidFill>
                  <a:srgbClr val="122359"/>
                </a:solidFill>
                <a:latin typeface="TT Fors Bold"/>
                <a:ea typeface="TT Fors Bold"/>
                <a:cs typeface="TT Fors Bold"/>
                <a:sym typeface="TT Fors Bold"/>
              </a:rPr>
              <a:t>03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9660290" y="1634440"/>
            <a:ext cx="7085123" cy="9315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79"/>
              </a:lnSpc>
              <a:spcBef>
                <a:spcPct val="0"/>
              </a:spcBef>
            </a:pPr>
            <a:r>
              <a:rPr lang="en-US" sz="2699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Comparing Electric Power Generation With Different Countries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0308174" y="3256378"/>
            <a:ext cx="7627646" cy="4552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79"/>
              </a:lnSpc>
              <a:spcBef>
                <a:spcPct val="0"/>
              </a:spcBef>
            </a:pPr>
            <a:r>
              <a:rPr lang="en-US" sz="2699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Comparing Energy Mix With Different Countries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0308174" y="6814649"/>
            <a:ext cx="7627646" cy="9315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699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Comparing Renewable Energies With Different Countries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0712706" y="5025340"/>
            <a:ext cx="6876460" cy="9315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79"/>
              </a:lnSpc>
              <a:spcBef>
                <a:spcPct val="0"/>
              </a:spcBef>
            </a:pPr>
            <a:r>
              <a:rPr lang="en-US" sz="2699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Comparing CO2 Emisssions and Energy Efficiency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9660290" y="1263625"/>
            <a:ext cx="5248889" cy="4883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59"/>
              </a:lnSpc>
              <a:spcBef>
                <a:spcPct val="0"/>
              </a:spcBef>
            </a:pPr>
            <a:r>
              <a:rPr lang="en-US" sz="2899" b="1">
                <a:solidFill>
                  <a:srgbClr val="000000"/>
                </a:solidFill>
                <a:latin typeface="TT Fors Bold"/>
                <a:ea typeface="TT Fors Bold"/>
                <a:cs typeface="TT Fors Bold"/>
                <a:sym typeface="TT Fors Bold"/>
              </a:rPr>
              <a:t>Total Generation 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0308174" y="2885563"/>
            <a:ext cx="5248889" cy="4883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59"/>
              </a:lnSpc>
              <a:spcBef>
                <a:spcPct val="0"/>
              </a:spcBef>
            </a:pPr>
            <a:r>
              <a:rPr lang="en-US" sz="2899" b="1">
                <a:solidFill>
                  <a:srgbClr val="000000"/>
                </a:solidFill>
                <a:latin typeface="TT Fors Bold"/>
                <a:ea typeface="TT Fors Bold"/>
                <a:cs typeface="TT Fors Bold"/>
                <a:sym typeface="TT Fors Bold"/>
              </a:rPr>
              <a:t>Energy Mix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10308174" y="6443834"/>
            <a:ext cx="5248889" cy="4883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59"/>
              </a:lnSpc>
              <a:spcBef>
                <a:spcPct val="0"/>
              </a:spcBef>
            </a:pPr>
            <a:r>
              <a:rPr lang="en-US" sz="2899" b="1">
                <a:solidFill>
                  <a:srgbClr val="000000"/>
                </a:solidFill>
                <a:latin typeface="TT Fors Bold"/>
                <a:ea typeface="TT Fors Bold"/>
                <a:cs typeface="TT Fors Bold"/>
                <a:sym typeface="TT Fors Bold"/>
              </a:rPr>
              <a:t>Renewable Energy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10712706" y="4654525"/>
            <a:ext cx="5248889" cy="4883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59"/>
              </a:lnSpc>
              <a:spcBef>
                <a:spcPct val="0"/>
              </a:spcBef>
            </a:pPr>
            <a:r>
              <a:rPr lang="en-US" sz="2899" b="1">
                <a:solidFill>
                  <a:srgbClr val="000000"/>
                </a:solidFill>
                <a:latin typeface="TT Fors Bold"/>
                <a:ea typeface="TT Fors Bold"/>
                <a:cs typeface="TT Fors Bold"/>
                <a:sym typeface="TT Fors Bold"/>
              </a:rPr>
              <a:t>Emissions and Efficiency</a:t>
            </a:r>
          </a:p>
        </p:txBody>
      </p:sp>
      <p:sp>
        <p:nvSpPr>
          <p:cNvPr id="41" name="Freeform 41"/>
          <p:cNvSpPr/>
          <p:nvPr/>
        </p:nvSpPr>
        <p:spPr>
          <a:xfrm>
            <a:off x="15997669" y="8010272"/>
            <a:ext cx="2581074" cy="2538839"/>
          </a:xfrm>
          <a:custGeom>
            <a:avLst/>
            <a:gdLst/>
            <a:ahLst/>
            <a:cxnLst/>
            <a:rect l="l" t="t" r="r" b="b"/>
            <a:pathLst>
              <a:path w="2581074" h="2538839">
                <a:moveTo>
                  <a:pt x="0" y="0"/>
                </a:moveTo>
                <a:lnTo>
                  <a:pt x="2581074" y="0"/>
                </a:lnTo>
                <a:lnTo>
                  <a:pt x="2581074" y="2538839"/>
                </a:lnTo>
                <a:lnTo>
                  <a:pt x="0" y="2538839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42" name="Freeform 42"/>
          <p:cNvSpPr/>
          <p:nvPr/>
        </p:nvSpPr>
        <p:spPr>
          <a:xfrm>
            <a:off x="-1716402" y="7517043"/>
            <a:ext cx="3956452" cy="3542673"/>
          </a:xfrm>
          <a:custGeom>
            <a:avLst/>
            <a:gdLst/>
            <a:ahLst/>
            <a:cxnLst/>
            <a:rect l="l" t="t" r="r" b="b"/>
            <a:pathLst>
              <a:path w="3956452" h="3542673">
                <a:moveTo>
                  <a:pt x="0" y="0"/>
                </a:moveTo>
                <a:lnTo>
                  <a:pt x="3956452" y="0"/>
                </a:lnTo>
                <a:lnTo>
                  <a:pt x="3956452" y="3542672"/>
                </a:lnTo>
                <a:lnTo>
                  <a:pt x="0" y="3542672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/>
            </a:stretch>
          </a:blipFill>
        </p:spPr>
      </p:sp>
      <p:sp>
        <p:nvSpPr>
          <p:cNvPr id="43" name="Freeform 43"/>
          <p:cNvSpPr/>
          <p:nvPr/>
        </p:nvSpPr>
        <p:spPr>
          <a:xfrm>
            <a:off x="11017547" y="8861356"/>
            <a:ext cx="3601591" cy="2740211"/>
          </a:xfrm>
          <a:custGeom>
            <a:avLst/>
            <a:gdLst/>
            <a:ahLst/>
            <a:cxnLst/>
            <a:rect l="l" t="t" r="r" b="b"/>
            <a:pathLst>
              <a:path w="3601591" h="2740211">
                <a:moveTo>
                  <a:pt x="0" y="0"/>
                </a:moveTo>
                <a:lnTo>
                  <a:pt x="3601591" y="0"/>
                </a:lnTo>
                <a:lnTo>
                  <a:pt x="3601591" y="2740210"/>
                </a:lnTo>
                <a:lnTo>
                  <a:pt x="0" y="2740210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/>
            </a:stretch>
          </a:blipFill>
        </p:spPr>
      </p:sp>
      <p:sp>
        <p:nvSpPr>
          <p:cNvPr id="44" name="Freeform 44"/>
          <p:cNvSpPr/>
          <p:nvPr/>
        </p:nvSpPr>
        <p:spPr>
          <a:xfrm rot="-522393">
            <a:off x="2948237" y="9095483"/>
            <a:ext cx="6729805" cy="2704158"/>
          </a:xfrm>
          <a:custGeom>
            <a:avLst/>
            <a:gdLst/>
            <a:ahLst/>
            <a:cxnLst/>
            <a:rect l="l" t="t" r="r" b="b"/>
            <a:pathLst>
              <a:path w="6729805" h="2704158">
                <a:moveTo>
                  <a:pt x="0" y="0"/>
                </a:moveTo>
                <a:lnTo>
                  <a:pt x="6729806" y="0"/>
                </a:lnTo>
                <a:lnTo>
                  <a:pt x="6729806" y="2704159"/>
                </a:lnTo>
                <a:lnTo>
                  <a:pt x="0" y="2704159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a:blipFill>
        </p:spPr>
      </p:sp>
      <p:sp>
        <p:nvSpPr>
          <p:cNvPr id="45" name="Freeform 45"/>
          <p:cNvSpPr/>
          <p:nvPr/>
        </p:nvSpPr>
        <p:spPr>
          <a:xfrm rot="1156030">
            <a:off x="586057" y="2497635"/>
            <a:ext cx="6140884" cy="4946203"/>
          </a:xfrm>
          <a:custGeom>
            <a:avLst/>
            <a:gdLst/>
            <a:ahLst/>
            <a:cxnLst/>
            <a:rect l="l" t="t" r="r" b="b"/>
            <a:pathLst>
              <a:path w="6140884" h="4946203">
                <a:moveTo>
                  <a:pt x="0" y="0"/>
                </a:moveTo>
                <a:lnTo>
                  <a:pt x="6140885" y="0"/>
                </a:lnTo>
                <a:lnTo>
                  <a:pt x="6140885" y="4946203"/>
                </a:lnTo>
                <a:lnTo>
                  <a:pt x="0" y="4946203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6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4619138" y="6654300"/>
            <a:ext cx="3959605" cy="3894811"/>
          </a:xfrm>
          <a:custGeom>
            <a:avLst/>
            <a:gdLst/>
            <a:ahLst/>
            <a:cxnLst/>
            <a:rect l="l" t="t" r="r" b="b"/>
            <a:pathLst>
              <a:path w="3959605" h="3894811">
                <a:moveTo>
                  <a:pt x="0" y="0"/>
                </a:moveTo>
                <a:lnTo>
                  <a:pt x="3959605" y="0"/>
                </a:lnTo>
                <a:lnTo>
                  <a:pt x="3959605" y="3894811"/>
                </a:lnTo>
                <a:lnTo>
                  <a:pt x="0" y="389481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1716402" y="6143695"/>
            <a:ext cx="5490204" cy="4916020"/>
          </a:xfrm>
          <a:custGeom>
            <a:avLst/>
            <a:gdLst/>
            <a:ahLst/>
            <a:cxnLst/>
            <a:rect l="l" t="t" r="r" b="b"/>
            <a:pathLst>
              <a:path w="5490204" h="4916020">
                <a:moveTo>
                  <a:pt x="0" y="0"/>
                </a:moveTo>
                <a:lnTo>
                  <a:pt x="5490204" y="0"/>
                </a:lnTo>
                <a:lnTo>
                  <a:pt x="5490204" y="4916020"/>
                </a:lnTo>
                <a:lnTo>
                  <a:pt x="0" y="491602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9997922" y="8085591"/>
            <a:ext cx="4621216" cy="3515975"/>
          </a:xfrm>
          <a:custGeom>
            <a:avLst/>
            <a:gdLst/>
            <a:ahLst/>
            <a:cxnLst/>
            <a:rect l="l" t="t" r="r" b="b"/>
            <a:pathLst>
              <a:path w="4621216" h="3515975">
                <a:moveTo>
                  <a:pt x="0" y="0"/>
                </a:moveTo>
                <a:lnTo>
                  <a:pt x="4621216" y="0"/>
                </a:lnTo>
                <a:lnTo>
                  <a:pt x="4621216" y="3515975"/>
                </a:lnTo>
                <a:lnTo>
                  <a:pt x="0" y="351597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1433484">
            <a:off x="2124354" y="-514935"/>
            <a:ext cx="2658742" cy="2924616"/>
          </a:xfrm>
          <a:custGeom>
            <a:avLst/>
            <a:gdLst/>
            <a:ahLst/>
            <a:cxnLst/>
            <a:rect l="l" t="t" r="r" b="b"/>
            <a:pathLst>
              <a:path w="2658742" h="2924616">
                <a:moveTo>
                  <a:pt x="0" y="0"/>
                </a:moveTo>
                <a:lnTo>
                  <a:pt x="2658742" y="0"/>
                </a:lnTo>
                <a:lnTo>
                  <a:pt x="2658742" y="2924616"/>
                </a:lnTo>
                <a:lnTo>
                  <a:pt x="0" y="292461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-2952721">
            <a:off x="13676831" y="-428566"/>
            <a:ext cx="2658742" cy="2924616"/>
          </a:xfrm>
          <a:custGeom>
            <a:avLst/>
            <a:gdLst/>
            <a:ahLst/>
            <a:cxnLst/>
            <a:rect l="l" t="t" r="r" b="b"/>
            <a:pathLst>
              <a:path w="2658742" h="2924616">
                <a:moveTo>
                  <a:pt x="0" y="0"/>
                </a:moveTo>
                <a:lnTo>
                  <a:pt x="2658742" y="0"/>
                </a:lnTo>
                <a:lnTo>
                  <a:pt x="2658742" y="2924616"/>
                </a:lnTo>
                <a:lnTo>
                  <a:pt x="0" y="292461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-1908845">
            <a:off x="14703611" y="951350"/>
            <a:ext cx="6881994" cy="5543134"/>
          </a:xfrm>
          <a:custGeom>
            <a:avLst/>
            <a:gdLst/>
            <a:ahLst/>
            <a:cxnLst/>
            <a:rect l="l" t="t" r="r" b="b"/>
            <a:pathLst>
              <a:path w="6881994" h="5543134">
                <a:moveTo>
                  <a:pt x="0" y="0"/>
                </a:moveTo>
                <a:lnTo>
                  <a:pt x="6881994" y="0"/>
                </a:lnTo>
                <a:lnTo>
                  <a:pt x="6881994" y="5543133"/>
                </a:lnTo>
                <a:lnTo>
                  <a:pt x="0" y="554313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rot="1156030">
            <a:off x="-2326381" y="931484"/>
            <a:ext cx="6140884" cy="4946203"/>
          </a:xfrm>
          <a:custGeom>
            <a:avLst/>
            <a:gdLst/>
            <a:ahLst/>
            <a:cxnLst/>
            <a:rect l="l" t="t" r="r" b="b"/>
            <a:pathLst>
              <a:path w="6140884" h="4946203">
                <a:moveTo>
                  <a:pt x="0" y="0"/>
                </a:moveTo>
                <a:lnTo>
                  <a:pt x="6140884" y="0"/>
                </a:lnTo>
                <a:lnTo>
                  <a:pt x="6140884" y="4946203"/>
                </a:lnTo>
                <a:lnTo>
                  <a:pt x="0" y="494620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rot="-522393">
            <a:off x="2927061" y="8817310"/>
            <a:ext cx="7315200" cy="2939380"/>
          </a:xfrm>
          <a:custGeom>
            <a:avLst/>
            <a:gdLst/>
            <a:ahLst/>
            <a:cxnLst/>
            <a:rect l="l" t="t" r="r" b="b"/>
            <a:pathLst>
              <a:path w="7315200" h="2939380">
                <a:moveTo>
                  <a:pt x="0" y="0"/>
                </a:moveTo>
                <a:lnTo>
                  <a:pt x="7315200" y="0"/>
                </a:lnTo>
                <a:lnTo>
                  <a:pt x="7315200" y="2939380"/>
                </a:lnTo>
                <a:lnTo>
                  <a:pt x="0" y="293938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0864706" y="1528171"/>
            <a:ext cx="2887649" cy="1792693"/>
          </a:xfrm>
          <a:custGeom>
            <a:avLst/>
            <a:gdLst/>
            <a:ahLst/>
            <a:cxnLst/>
            <a:rect l="l" t="t" r="r" b="b"/>
            <a:pathLst>
              <a:path w="2887649" h="1792693">
                <a:moveTo>
                  <a:pt x="0" y="0"/>
                </a:moveTo>
                <a:lnTo>
                  <a:pt x="2887649" y="0"/>
                </a:lnTo>
                <a:lnTo>
                  <a:pt x="2887649" y="1792693"/>
                </a:lnTo>
                <a:lnTo>
                  <a:pt x="0" y="1792693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-3699" r="-3699"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7714265" y="6119425"/>
            <a:ext cx="2964411" cy="1841234"/>
          </a:xfrm>
          <a:custGeom>
            <a:avLst/>
            <a:gdLst/>
            <a:ahLst/>
            <a:cxnLst/>
            <a:rect l="l" t="t" r="r" b="b"/>
            <a:pathLst>
              <a:path w="2964411" h="1841234">
                <a:moveTo>
                  <a:pt x="0" y="0"/>
                </a:moveTo>
                <a:lnTo>
                  <a:pt x="2964411" y="0"/>
                </a:lnTo>
                <a:lnTo>
                  <a:pt x="2964411" y="1841233"/>
                </a:lnTo>
                <a:lnTo>
                  <a:pt x="0" y="1841233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t="-2765" b="-2765"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4431562" y="6167966"/>
            <a:ext cx="2917578" cy="1792693"/>
          </a:xfrm>
          <a:custGeom>
            <a:avLst/>
            <a:gdLst/>
            <a:ahLst/>
            <a:cxnLst/>
            <a:rect l="l" t="t" r="r" b="b"/>
            <a:pathLst>
              <a:path w="2917578" h="1792693">
                <a:moveTo>
                  <a:pt x="0" y="0"/>
                </a:moveTo>
                <a:lnTo>
                  <a:pt x="2917578" y="0"/>
                </a:lnTo>
                <a:lnTo>
                  <a:pt x="2917578" y="1792692"/>
                </a:lnTo>
                <a:lnTo>
                  <a:pt x="0" y="1792692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t="-6671" b="-6671"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4431562" y="1528171"/>
            <a:ext cx="2932216" cy="1796839"/>
          </a:xfrm>
          <a:custGeom>
            <a:avLst/>
            <a:gdLst/>
            <a:ahLst/>
            <a:cxnLst/>
            <a:rect l="l" t="t" r="r" b="b"/>
            <a:pathLst>
              <a:path w="2932216" h="1796839">
                <a:moveTo>
                  <a:pt x="0" y="0"/>
                </a:moveTo>
                <a:lnTo>
                  <a:pt x="2932216" y="0"/>
                </a:lnTo>
                <a:lnTo>
                  <a:pt x="2932216" y="1796839"/>
                </a:lnTo>
                <a:lnTo>
                  <a:pt x="0" y="1796839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t="-6849" r="-6235" b="-8725"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7626839" y="3722917"/>
            <a:ext cx="2964411" cy="1796839"/>
          </a:xfrm>
          <a:custGeom>
            <a:avLst/>
            <a:gdLst/>
            <a:ahLst/>
            <a:cxnLst/>
            <a:rect l="l" t="t" r="r" b="b"/>
            <a:pathLst>
              <a:path w="2964411" h="1796839">
                <a:moveTo>
                  <a:pt x="0" y="0"/>
                </a:moveTo>
                <a:lnTo>
                  <a:pt x="2964411" y="0"/>
                </a:lnTo>
                <a:lnTo>
                  <a:pt x="2964411" y="1796838"/>
                </a:lnTo>
                <a:lnTo>
                  <a:pt x="0" y="1796838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-4217" t="-4889" b="-10392"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10905789" y="6069093"/>
            <a:ext cx="2853714" cy="1941896"/>
          </a:xfrm>
          <a:custGeom>
            <a:avLst/>
            <a:gdLst/>
            <a:ahLst/>
            <a:cxnLst/>
            <a:rect l="l" t="t" r="r" b="b"/>
            <a:pathLst>
              <a:path w="2853714" h="1941896">
                <a:moveTo>
                  <a:pt x="0" y="0"/>
                </a:moveTo>
                <a:lnTo>
                  <a:pt x="2853714" y="0"/>
                </a:lnTo>
                <a:lnTo>
                  <a:pt x="2853714" y="1941897"/>
                </a:lnTo>
                <a:lnTo>
                  <a:pt x="0" y="1941897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 t="-2854" r="-8447" b="-2854"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2692640" y="4127657"/>
            <a:ext cx="2162324" cy="1213391"/>
          </a:xfrm>
          <a:custGeom>
            <a:avLst/>
            <a:gdLst/>
            <a:ahLst/>
            <a:cxnLst/>
            <a:rect l="l" t="t" r="r" b="b"/>
            <a:pathLst>
              <a:path w="2162324" h="1213391">
                <a:moveTo>
                  <a:pt x="0" y="0"/>
                </a:moveTo>
                <a:lnTo>
                  <a:pt x="2162324" y="0"/>
                </a:lnTo>
                <a:lnTo>
                  <a:pt x="2162324" y="1213391"/>
                </a:lnTo>
                <a:lnTo>
                  <a:pt x="0" y="1213391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>
            <a:off x="12925410" y="4322075"/>
            <a:ext cx="2162324" cy="1005670"/>
          </a:xfrm>
          <a:custGeom>
            <a:avLst/>
            <a:gdLst/>
            <a:ahLst/>
            <a:cxnLst/>
            <a:rect l="l" t="t" r="r" b="b"/>
            <a:pathLst>
              <a:path w="2162324" h="1005670">
                <a:moveTo>
                  <a:pt x="0" y="0"/>
                </a:moveTo>
                <a:lnTo>
                  <a:pt x="2162324" y="0"/>
                </a:lnTo>
                <a:lnTo>
                  <a:pt x="2162324" y="1005671"/>
                </a:lnTo>
                <a:lnTo>
                  <a:pt x="0" y="1005671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 l="-5671" t="-72398" r="-5671" b="-67004"/>
            </a:stretch>
          </a:blipFill>
        </p:spPr>
      </p:sp>
      <p:sp>
        <p:nvSpPr>
          <p:cNvPr id="18" name="TextBox 18"/>
          <p:cNvSpPr txBox="1"/>
          <p:nvPr/>
        </p:nvSpPr>
        <p:spPr>
          <a:xfrm>
            <a:off x="2502352" y="20046"/>
            <a:ext cx="12687263" cy="11595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589"/>
              </a:lnSpc>
              <a:spcBef>
                <a:spcPct val="0"/>
              </a:spcBef>
            </a:pPr>
            <a:r>
              <a:rPr lang="en-US" sz="6849" b="1" spc="75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Energy sources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6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4619138" y="6654300"/>
            <a:ext cx="3959605" cy="3894811"/>
          </a:xfrm>
          <a:custGeom>
            <a:avLst/>
            <a:gdLst/>
            <a:ahLst/>
            <a:cxnLst/>
            <a:rect l="l" t="t" r="r" b="b"/>
            <a:pathLst>
              <a:path w="3959605" h="3894811">
                <a:moveTo>
                  <a:pt x="0" y="0"/>
                </a:moveTo>
                <a:lnTo>
                  <a:pt x="3959605" y="0"/>
                </a:lnTo>
                <a:lnTo>
                  <a:pt x="3959605" y="3894811"/>
                </a:lnTo>
                <a:lnTo>
                  <a:pt x="0" y="389481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1716402" y="6143695"/>
            <a:ext cx="5490204" cy="4916020"/>
          </a:xfrm>
          <a:custGeom>
            <a:avLst/>
            <a:gdLst/>
            <a:ahLst/>
            <a:cxnLst/>
            <a:rect l="l" t="t" r="r" b="b"/>
            <a:pathLst>
              <a:path w="5490204" h="4916020">
                <a:moveTo>
                  <a:pt x="0" y="0"/>
                </a:moveTo>
                <a:lnTo>
                  <a:pt x="5490204" y="0"/>
                </a:lnTo>
                <a:lnTo>
                  <a:pt x="5490204" y="4916020"/>
                </a:lnTo>
                <a:lnTo>
                  <a:pt x="0" y="491602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9997922" y="8085591"/>
            <a:ext cx="4621216" cy="3515975"/>
          </a:xfrm>
          <a:custGeom>
            <a:avLst/>
            <a:gdLst/>
            <a:ahLst/>
            <a:cxnLst/>
            <a:rect l="l" t="t" r="r" b="b"/>
            <a:pathLst>
              <a:path w="4621216" h="3515975">
                <a:moveTo>
                  <a:pt x="0" y="0"/>
                </a:moveTo>
                <a:lnTo>
                  <a:pt x="4621216" y="0"/>
                </a:lnTo>
                <a:lnTo>
                  <a:pt x="4621216" y="3515975"/>
                </a:lnTo>
                <a:lnTo>
                  <a:pt x="0" y="351597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-1908845">
            <a:off x="14703611" y="951350"/>
            <a:ext cx="6881994" cy="5543134"/>
          </a:xfrm>
          <a:custGeom>
            <a:avLst/>
            <a:gdLst/>
            <a:ahLst/>
            <a:cxnLst/>
            <a:rect l="l" t="t" r="r" b="b"/>
            <a:pathLst>
              <a:path w="6881994" h="5543134">
                <a:moveTo>
                  <a:pt x="0" y="0"/>
                </a:moveTo>
                <a:lnTo>
                  <a:pt x="6881994" y="0"/>
                </a:lnTo>
                <a:lnTo>
                  <a:pt x="6881994" y="5543133"/>
                </a:lnTo>
                <a:lnTo>
                  <a:pt x="0" y="554313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1156030">
            <a:off x="-2326381" y="931484"/>
            <a:ext cx="6140884" cy="4946203"/>
          </a:xfrm>
          <a:custGeom>
            <a:avLst/>
            <a:gdLst/>
            <a:ahLst/>
            <a:cxnLst/>
            <a:rect l="l" t="t" r="r" b="b"/>
            <a:pathLst>
              <a:path w="6140884" h="4946203">
                <a:moveTo>
                  <a:pt x="0" y="0"/>
                </a:moveTo>
                <a:lnTo>
                  <a:pt x="6140884" y="0"/>
                </a:lnTo>
                <a:lnTo>
                  <a:pt x="6140884" y="4946203"/>
                </a:lnTo>
                <a:lnTo>
                  <a:pt x="0" y="494620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-522393">
            <a:off x="2927061" y="8817310"/>
            <a:ext cx="7315200" cy="2939380"/>
          </a:xfrm>
          <a:custGeom>
            <a:avLst/>
            <a:gdLst/>
            <a:ahLst/>
            <a:cxnLst/>
            <a:rect l="l" t="t" r="r" b="b"/>
            <a:pathLst>
              <a:path w="7315200" h="2939380">
                <a:moveTo>
                  <a:pt x="0" y="0"/>
                </a:moveTo>
                <a:lnTo>
                  <a:pt x="7315200" y="0"/>
                </a:lnTo>
                <a:lnTo>
                  <a:pt x="7315200" y="2939380"/>
                </a:lnTo>
                <a:lnTo>
                  <a:pt x="0" y="293938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5548737" y="3229463"/>
            <a:ext cx="5579410" cy="4270785"/>
          </a:xfrm>
          <a:custGeom>
            <a:avLst/>
            <a:gdLst/>
            <a:ahLst/>
            <a:cxnLst/>
            <a:rect l="l" t="t" r="r" b="b"/>
            <a:pathLst>
              <a:path w="5579410" h="4270785">
                <a:moveTo>
                  <a:pt x="0" y="0"/>
                </a:moveTo>
                <a:lnTo>
                  <a:pt x="5579411" y="0"/>
                </a:lnTo>
                <a:lnTo>
                  <a:pt x="5579411" y="4270785"/>
                </a:lnTo>
                <a:lnTo>
                  <a:pt x="0" y="427078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2419578" y="1556644"/>
            <a:ext cx="12894653" cy="8924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93"/>
              </a:lnSpc>
              <a:spcBef>
                <a:spcPct val="0"/>
              </a:spcBef>
            </a:pPr>
            <a:r>
              <a:rPr lang="en-US" sz="5209" b="1" spc="57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Are all fossil-fuel grids equally dirty?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6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4619138" y="6654300"/>
            <a:ext cx="3959605" cy="3894811"/>
          </a:xfrm>
          <a:custGeom>
            <a:avLst/>
            <a:gdLst/>
            <a:ahLst/>
            <a:cxnLst/>
            <a:rect l="l" t="t" r="r" b="b"/>
            <a:pathLst>
              <a:path w="3959605" h="3894811">
                <a:moveTo>
                  <a:pt x="0" y="0"/>
                </a:moveTo>
                <a:lnTo>
                  <a:pt x="3959605" y="0"/>
                </a:lnTo>
                <a:lnTo>
                  <a:pt x="3959605" y="3894811"/>
                </a:lnTo>
                <a:lnTo>
                  <a:pt x="0" y="389481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1716402" y="6143695"/>
            <a:ext cx="5490204" cy="4916020"/>
          </a:xfrm>
          <a:custGeom>
            <a:avLst/>
            <a:gdLst/>
            <a:ahLst/>
            <a:cxnLst/>
            <a:rect l="l" t="t" r="r" b="b"/>
            <a:pathLst>
              <a:path w="5490204" h="4916020">
                <a:moveTo>
                  <a:pt x="0" y="0"/>
                </a:moveTo>
                <a:lnTo>
                  <a:pt x="5490204" y="0"/>
                </a:lnTo>
                <a:lnTo>
                  <a:pt x="5490204" y="4916020"/>
                </a:lnTo>
                <a:lnTo>
                  <a:pt x="0" y="491602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9997922" y="8085591"/>
            <a:ext cx="4621216" cy="3515975"/>
          </a:xfrm>
          <a:custGeom>
            <a:avLst/>
            <a:gdLst/>
            <a:ahLst/>
            <a:cxnLst/>
            <a:rect l="l" t="t" r="r" b="b"/>
            <a:pathLst>
              <a:path w="4621216" h="3515975">
                <a:moveTo>
                  <a:pt x="0" y="0"/>
                </a:moveTo>
                <a:lnTo>
                  <a:pt x="4621216" y="0"/>
                </a:lnTo>
                <a:lnTo>
                  <a:pt x="4621216" y="3515975"/>
                </a:lnTo>
                <a:lnTo>
                  <a:pt x="0" y="351597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1433484">
            <a:off x="2124354" y="-514935"/>
            <a:ext cx="2658742" cy="2924616"/>
          </a:xfrm>
          <a:custGeom>
            <a:avLst/>
            <a:gdLst/>
            <a:ahLst/>
            <a:cxnLst/>
            <a:rect l="l" t="t" r="r" b="b"/>
            <a:pathLst>
              <a:path w="2658742" h="2924616">
                <a:moveTo>
                  <a:pt x="0" y="0"/>
                </a:moveTo>
                <a:lnTo>
                  <a:pt x="2658742" y="0"/>
                </a:lnTo>
                <a:lnTo>
                  <a:pt x="2658742" y="2924616"/>
                </a:lnTo>
                <a:lnTo>
                  <a:pt x="0" y="292461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-2952721">
            <a:off x="13676831" y="-428566"/>
            <a:ext cx="2658742" cy="2924616"/>
          </a:xfrm>
          <a:custGeom>
            <a:avLst/>
            <a:gdLst/>
            <a:ahLst/>
            <a:cxnLst/>
            <a:rect l="l" t="t" r="r" b="b"/>
            <a:pathLst>
              <a:path w="2658742" h="2924616">
                <a:moveTo>
                  <a:pt x="0" y="0"/>
                </a:moveTo>
                <a:lnTo>
                  <a:pt x="2658742" y="0"/>
                </a:lnTo>
                <a:lnTo>
                  <a:pt x="2658742" y="2924616"/>
                </a:lnTo>
                <a:lnTo>
                  <a:pt x="0" y="292461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-1908845">
            <a:off x="14703611" y="951350"/>
            <a:ext cx="6881994" cy="5543134"/>
          </a:xfrm>
          <a:custGeom>
            <a:avLst/>
            <a:gdLst/>
            <a:ahLst/>
            <a:cxnLst/>
            <a:rect l="l" t="t" r="r" b="b"/>
            <a:pathLst>
              <a:path w="6881994" h="5543134">
                <a:moveTo>
                  <a:pt x="0" y="0"/>
                </a:moveTo>
                <a:lnTo>
                  <a:pt x="6881994" y="0"/>
                </a:lnTo>
                <a:lnTo>
                  <a:pt x="6881994" y="5543133"/>
                </a:lnTo>
                <a:lnTo>
                  <a:pt x="0" y="554313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rot="1156030">
            <a:off x="-2326381" y="931484"/>
            <a:ext cx="6140884" cy="4946203"/>
          </a:xfrm>
          <a:custGeom>
            <a:avLst/>
            <a:gdLst/>
            <a:ahLst/>
            <a:cxnLst/>
            <a:rect l="l" t="t" r="r" b="b"/>
            <a:pathLst>
              <a:path w="6140884" h="4946203">
                <a:moveTo>
                  <a:pt x="0" y="0"/>
                </a:moveTo>
                <a:lnTo>
                  <a:pt x="6140884" y="0"/>
                </a:lnTo>
                <a:lnTo>
                  <a:pt x="6140884" y="4946203"/>
                </a:lnTo>
                <a:lnTo>
                  <a:pt x="0" y="494620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rot="-522393">
            <a:off x="2927061" y="8817310"/>
            <a:ext cx="7315200" cy="2939380"/>
          </a:xfrm>
          <a:custGeom>
            <a:avLst/>
            <a:gdLst/>
            <a:ahLst/>
            <a:cxnLst/>
            <a:rect l="l" t="t" r="r" b="b"/>
            <a:pathLst>
              <a:path w="7315200" h="2939380">
                <a:moveTo>
                  <a:pt x="0" y="0"/>
                </a:moveTo>
                <a:lnTo>
                  <a:pt x="7315200" y="0"/>
                </a:lnTo>
                <a:lnTo>
                  <a:pt x="7315200" y="2939380"/>
                </a:lnTo>
                <a:lnTo>
                  <a:pt x="0" y="293938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1169331" y="1033742"/>
            <a:ext cx="2278398" cy="2469809"/>
          </a:xfrm>
          <a:custGeom>
            <a:avLst/>
            <a:gdLst/>
            <a:ahLst/>
            <a:cxnLst/>
            <a:rect l="l" t="t" r="r" b="b"/>
            <a:pathLst>
              <a:path w="2278398" h="2469809">
                <a:moveTo>
                  <a:pt x="0" y="0"/>
                </a:moveTo>
                <a:lnTo>
                  <a:pt x="2278398" y="0"/>
                </a:lnTo>
                <a:lnTo>
                  <a:pt x="2278398" y="2469808"/>
                </a:lnTo>
                <a:lnTo>
                  <a:pt x="0" y="2469808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5261430" y="5015857"/>
            <a:ext cx="1601531" cy="2255677"/>
          </a:xfrm>
          <a:custGeom>
            <a:avLst/>
            <a:gdLst/>
            <a:ahLst/>
            <a:cxnLst/>
            <a:rect l="l" t="t" r="r" b="b"/>
            <a:pathLst>
              <a:path w="1601531" h="2255677">
                <a:moveTo>
                  <a:pt x="0" y="0"/>
                </a:moveTo>
                <a:lnTo>
                  <a:pt x="1601530" y="0"/>
                </a:lnTo>
                <a:lnTo>
                  <a:pt x="1601530" y="2255677"/>
                </a:lnTo>
                <a:lnTo>
                  <a:pt x="0" y="2255677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3312740" y="2368459"/>
            <a:ext cx="7100441" cy="1120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100"/>
              </a:lnSpc>
              <a:spcBef>
                <a:spcPct val="0"/>
              </a:spcBef>
            </a:pPr>
            <a:r>
              <a:rPr lang="en-US" sz="6500" b="1" spc="7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79% Natural Gas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851155" y="5631559"/>
            <a:ext cx="4914751" cy="1120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100"/>
              </a:lnSpc>
              <a:spcBef>
                <a:spcPct val="0"/>
              </a:spcBef>
            </a:pPr>
            <a:r>
              <a:rPr lang="en-US" sz="6500" b="1" spc="7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11% Fuel Oil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243454" y="3368330"/>
            <a:ext cx="1731183" cy="1902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603"/>
              </a:lnSpc>
              <a:spcBef>
                <a:spcPct val="0"/>
              </a:spcBef>
            </a:pPr>
            <a:r>
              <a:rPr lang="en-US" sz="11145" b="1" spc="122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Vs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6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4619138" y="6654300"/>
            <a:ext cx="3959605" cy="3894811"/>
          </a:xfrm>
          <a:custGeom>
            <a:avLst/>
            <a:gdLst/>
            <a:ahLst/>
            <a:cxnLst/>
            <a:rect l="l" t="t" r="r" b="b"/>
            <a:pathLst>
              <a:path w="3959605" h="3894811">
                <a:moveTo>
                  <a:pt x="0" y="0"/>
                </a:moveTo>
                <a:lnTo>
                  <a:pt x="3959605" y="0"/>
                </a:lnTo>
                <a:lnTo>
                  <a:pt x="3959605" y="3894811"/>
                </a:lnTo>
                <a:lnTo>
                  <a:pt x="0" y="389481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1716402" y="6143695"/>
            <a:ext cx="5490204" cy="4916020"/>
          </a:xfrm>
          <a:custGeom>
            <a:avLst/>
            <a:gdLst/>
            <a:ahLst/>
            <a:cxnLst/>
            <a:rect l="l" t="t" r="r" b="b"/>
            <a:pathLst>
              <a:path w="5490204" h="4916020">
                <a:moveTo>
                  <a:pt x="0" y="0"/>
                </a:moveTo>
                <a:lnTo>
                  <a:pt x="5490204" y="0"/>
                </a:lnTo>
                <a:lnTo>
                  <a:pt x="5490204" y="4916020"/>
                </a:lnTo>
                <a:lnTo>
                  <a:pt x="0" y="491602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9997922" y="8085591"/>
            <a:ext cx="4621216" cy="3515975"/>
          </a:xfrm>
          <a:custGeom>
            <a:avLst/>
            <a:gdLst/>
            <a:ahLst/>
            <a:cxnLst/>
            <a:rect l="l" t="t" r="r" b="b"/>
            <a:pathLst>
              <a:path w="4621216" h="3515975">
                <a:moveTo>
                  <a:pt x="0" y="0"/>
                </a:moveTo>
                <a:lnTo>
                  <a:pt x="4621216" y="0"/>
                </a:lnTo>
                <a:lnTo>
                  <a:pt x="4621216" y="3515975"/>
                </a:lnTo>
                <a:lnTo>
                  <a:pt x="0" y="351597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1433484">
            <a:off x="2124354" y="-514935"/>
            <a:ext cx="2658742" cy="2924616"/>
          </a:xfrm>
          <a:custGeom>
            <a:avLst/>
            <a:gdLst/>
            <a:ahLst/>
            <a:cxnLst/>
            <a:rect l="l" t="t" r="r" b="b"/>
            <a:pathLst>
              <a:path w="2658742" h="2924616">
                <a:moveTo>
                  <a:pt x="0" y="0"/>
                </a:moveTo>
                <a:lnTo>
                  <a:pt x="2658742" y="0"/>
                </a:lnTo>
                <a:lnTo>
                  <a:pt x="2658742" y="2924616"/>
                </a:lnTo>
                <a:lnTo>
                  <a:pt x="0" y="292461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-2952721">
            <a:off x="13676831" y="-428566"/>
            <a:ext cx="2658742" cy="2924616"/>
          </a:xfrm>
          <a:custGeom>
            <a:avLst/>
            <a:gdLst/>
            <a:ahLst/>
            <a:cxnLst/>
            <a:rect l="l" t="t" r="r" b="b"/>
            <a:pathLst>
              <a:path w="2658742" h="2924616">
                <a:moveTo>
                  <a:pt x="0" y="0"/>
                </a:moveTo>
                <a:lnTo>
                  <a:pt x="2658742" y="0"/>
                </a:lnTo>
                <a:lnTo>
                  <a:pt x="2658742" y="2924616"/>
                </a:lnTo>
                <a:lnTo>
                  <a:pt x="0" y="292461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-1908845">
            <a:off x="14703611" y="951350"/>
            <a:ext cx="6881994" cy="5543134"/>
          </a:xfrm>
          <a:custGeom>
            <a:avLst/>
            <a:gdLst/>
            <a:ahLst/>
            <a:cxnLst/>
            <a:rect l="l" t="t" r="r" b="b"/>
            <a:pathLst>
              <a:path w="6881994" h="5543134">
                <a:moveTo>
                  <a:pt x="0" y="0"/>
                </a:moveTo>
                <a:lnTo>
                  <a:pt x="6881994" y="0"/>
                </a:lnTo>
                <a:lnTo>
                  <a:pt x="6881994" y="5543133"/>
                </a:lnTo>
                <a:lnTo>
                  <a:pt x="0" y="554313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rot="1156030">
            <a:off x="-2326381" y="931484"/>
            <a:ext cx="6140884" cy="4946203"/>
          </a:xfrm>
          <a:custGeom>
            <a:avLst/>
            <a:gdLst/>
            <a:ahLst/>
            <a:cxnLst/>
            <a:rect l="l" t="t" r="r" b="b"/>
            <a:pathLst>
              <a:path w="6140884" h="4946203">
                <a:moveTo>
                  <a:pt x="0" y="0"/>
                </a:moveTo>
                <a:lnTo>
                  <a:pt x="6140884" y="0"/>
                </a:lnTo>
                <a:lnTo>
                  <a:pt x="6140884" y="4946203"/>
                </a:lnTo>
                <a:lnTo>
                  <a:pt x="0" y="494620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rot="-522393">
            <a:off x="2927061" y="8817310"/>
            <a:ext cx="7315200" cy="2939380"/>
          </a:xfrm>
          <a:custGeom>
            <a:avLst/>
            <a:gdLst/>
            <a:ahLst/>
            <a:cxnLst/>
            <a:rect l="l" t="t" r="r" b="b"/>
            <a:pathLst>
              <a:path w="7315200" h="2939380">
                <a:moveTo>
                  <a:pt x="0" y="0"/>
                </a:moveTo>
                <a:lnTo>
                  <a:pt x="7315200" y="0"/>
                </a:lnTo>
                <a:lnTo>
                  <a:pt x="7315200" y="2939380"/>
                </a:lnTo>
                <a:lnTo>
                  <a:pt x="0" y="293938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4459094" y="4419602"/>
            <a:ext cx="3836278" cy="3773502"/>
          </a:xfrm>
          <a:custGeom>
            <a:avLst/>
            <a:gdLst/>
            <a:ahLst/>
            <a:cxnLst/>
            <a:rect l="l" t="t" r="r" b="b"/>
            <a:pathLst>
              <a:path w="3836278" h="3773502">
                <a:moveTo>
                  <a:pt x="0" y="0"/>
                </a:moveTo>
                <a:lnTo>
                  <a:pt x="3836278" y="0"/>
                </a:lnTo>
                <a:lnTo>
                  <a:pt x="3836278" y="3773502"/>
                </a:lnTo>
                <a:lnTo>
                  <a:pt x="0" y="3773502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8980665" y="4507078"/>
            <a:ext cx="3966338" cy="3598550"/>
          </a:xfrm>
          <a:custGeom>
            <a:avLst/>
            <a:gdLst/>
            <a:ahLst/>
            <a:cxnLst/>
            <a:rect l="l" t="t" r="r" b="b"/>
            <a:pathLst>
              <a:path w="3966338" h="3598550">
                <a:moveTo>
                  <a:pt x="0" y="0"/>
                </a:moveTo>
                <a:lnTo>
                  <a:pt x="3966337" y="0"/>
                </a:lnTo>
                <a:lnTo>
                  <a:pt x="3966337" y="3598550"/>
                </a:lnTo>
                <a:lnTo>
                  <a:pt x="0" y="3598550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4333657" y="1379704"/>
            <a:ext cx="8696957" cy="18914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587"/>
              </a:lnSpc>
              <a:spcBef>
                <a:spcPct val="0"/>
              </a:spcBef>
            </a:pPr>
            <a:r>
              <a:rPr lang="en-US" sz="11133" b="1" spc="122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11% → ~50%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402546" y="3281739"/>
            <a:ext cx="8628069" cy="7840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436"/>
              </a:lnSpc>
              <a:spcBef>
                <a:spcPct val="0"/>
              </a:spcBef>
            </a:pPr>
            <a:r>
              <a:rPr lang="en-US" sz="4597" b="1" spc="5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Fuel Oil’s share of emissions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6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4619138" y="6654300"/>
            <a:ext cx="3959605" cy="3894811"/>
          </a:xfrm>
          <a:custGeom>
            <a:avLst/>
            <a:gdLst/>
            <a:ahLst/>
            <a:cxnLst/>
            <a:rect l="l" t="t" r="r" b="b"/>
            <a:pathLst>
              <a:path w="3959605" h="3894811">
                <a:moveTo>
                  <a:pt x="0" y="0"/>
                </a:moveTo>
                <a:lnTo>
                  <a:pt x="3959605" y="0"/>
                </a:lnTo>
                <a:lnTo>
                  <a:pt x="3959605" y="3894811"/>
                </a:lnTo>
                <a:lnTo>
                  <a:pt x="0" y="389481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1716402" y="6143695"/>
            <a:ext cx="5490204" cy="4916020"/>
          </a:xfrm>
          <a:custGeom>
            <a:avLst/>
            <a:gdLst/>
            <a:ahLst/>
            <a:cxnLst/>
            <a:rect l="l" t="t" r="r" b="b"/>
            <a:pathLst>
              <a:path w="5490204" h="4916020">
                <a:moveTo>
                  <a:pt x="0" y="0"/>
                </a:moveTo>
                <a:lnTo>
                  <a:pt x="5490204" y="0"/>
                </a:lnTo>
                <a:lnTo>
                  <a:pt x="5490204" y="4916020"/>
                </a:lnTo>
                <a:lnTo>
                  <a:pt x="0" y="491602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9997922" y="8085591"/>
            <a:ext cx="4621216" cy="3515975"/>
          </a:xfrm>
          <a:custGeom>
            <a:avLst/>
            <a:gdLst/>
            <a:ahLst/>
            <a:cxnLst/>
            <a:rect l="l" t="t" r="r" b="b"/>
            <a:pathLst>
              <a:path w="4621216" h="3515975">
                <a:moveTo>
                  <a:pt x="0" y="0"/>
                </a:moveTo>
                <a:lnTo>
                  <a:pt x="4621216" y="0"/>
                </a:lnTo>
                <a:lnTo>
                  <a:pt x="4621216" y="3515975"/>
                </a:lnTo>
                <a:lnTo>
                  <a:pt x="0" y="351597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1433484">
            <a:off x="2124354" y="-514935"/>
            <a:ext cx="2658742" cy="2924616"/>
          </a:xfrm>
          <a:custGeom>
            <a:avLst/>
            <a:gdLst/>
            <a:ahLst/>
            <a:cxnLst/>
            <a:rect l="l" t="t" r="r" b="b"/>
            <a:pathLst>
              <a:path w="2658742" h="2924616">
                <a:moveTo>
                  <a:pt x="0" y="0"/>
                </a:moveTo>
                <a:lnTo>
                  <a:pt x="2658742" y="0"/>
                </a:lnTo>
                <a:lnTo>
                  <a:pt x="2658742" y="2924616"/>
                </a:lnTo>
                <a:lnTo>
                  <a:pt x="0" y="292461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-2952721">
            <a:off x="13676831" y="-428566"/>
            <a:ext cx="2658742" cy="2924616"/>
          </a:xfrm>
          <a:custGeom>
            <a:avLst/>
            <a:gdLst/>
            <a:ahLst/>
            <a:cxnLst/>
            <a:rect l="l" t="t" r="r" b="b"/>
            <a:pathLst>
              <a:path w="2658742" h="2924616">
                <a:moveTo>
                  <a:pt x="0" y="0"/>
                </a:moveTo>
                <a:lnTo>
                  <a:pt x="2658742" y="0"/>
                </a:lnTo>
                <a:lnTo>
                  <a:pt x="2658742" y="2924616"/>
                </a:lnTo>
                <a:lnTo>
                  <a:pt x="0" y="292461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-1908845">
            <a:off x="14703611" y="951350"/>
            <a:ext cx="6881994" cy="5543134"/>
          </a:xfrm>
          <a:custGeom>
            <a:avLst/>
            <a:gdLst/>
            <a:ahLst/>
            <a:cxnLst/>
            <a:rect l="l" t="t" r="r" b="b"/>
            <a:pathLst>
              <a:path w="6881994" h="5543134">
                <a:moveTo>
                  <a:pt x="0" y="0"/>
                </a:moveTo>
                <a:lnTo>
                  <a:pt x="6881994" y="0"/>
                </a:lnTo>
                <a:lnTo>
                  <a:pt x="6881994" y="5543133"/>
                </a:lnTo>
                <a:lnTo>
                  <a:pt x="0" y="554313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rot="1156030">
            <a:off x="-2326381" y="931484"/>
            <a:ext cx="6140884" cy="4946203"/>
          </a:xfrm>
          <a:custGeom>
            <a:avLst/>
            <a:gdLst/>
            <a:ahLst/>
            <a:cxnLst/>
            <a:rect l="l" t="t" r="r" b="b"/>
            <a:pathLst>
              <a:path w="6140884" h="4946203">
                <a:moveTo>
                  <a:pt x="0" y="0"/>
                </a:moveTo>
                <a:lnTo>
                  <a:pt x="6140884" y="0"/>
                </a:lnTo>
                <a:lnTo>
                  <a:pt x="6140884" y="4946203"/>
                </a:lnTo>
                <a:lnTo>
                  <a:pt x="0" y="494620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rot="-522393">
            <a:off x="2927061" y="8817310"/>
            <a:ext cx="7315200" cy="2939380"/>
          </a:xfrm>
          <a:custGeom>
            <a:avLst/>
            <a:gdLst/>
            <a:ahLst/>
            <a:cxnLst/>
            <a:rect l="l" t="t" r="r" b="b"/>
            <a:pathLst>
              <a:path w="7315200" h="2939380">
                <a:moveTo>
                  <a:pt x="0" y="0"/>
                </a:moveTo>
                <a:lnTo>
                  <a:pt x="7315200" y="0"/>
                </a:lnTo>
                <a:lnTo>
                  <a:pt x="7315200" y="2939380"/>
                </a:lnTo>
                <a:lnTo>
                  <a:pt x="0" y="293938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7094806" y="3924441"/>
            <a:ext cx="4098388" cy="4114800"/>
          </a:xfrm>
          <a:custGeom>
            <a:avLst/>
            <a:gdLst/>
            <a:ahLst/>
            <a:cxnLst/>
            <a:rect l="l" t="t" r="r" b="b"/>
            <a:pathLst>
              <a:path w="4098388" h="4114800">
                <a:moveTo>
                  <a:pt x="0" y="0"/>
                </a:moveTo>
                <a:lnTo>
                  <a:pt x="4098388" y="0"/>
                </a:lnTo>
                <a:lnTo>
                  <a:pt x="409838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5066150" y="1893876"/>
            <a:ext cx="8155701" cy="1984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267"/>
              </a:lnSpc>
              <a:spcBef>
                <a:spcPct val="0"/>
              </a:spcBef>
            </a:pPr>
            <a:r>
              <a:rPr lang="en-US" sz="11619" b="1" spc="127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Gas ≠ Coal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6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4619138" y="6654300"/>
            <a:ext cx="3959605" cy="3894811"/>
          </a:xfrm>
          <a:custGeom>
            <a:avLst/>
            <a:gdLst/>
            <a:ahLst/>
            <a:cxnLst/>
            <a:rect l="l" t="t" r="r" b="b"/>
            <a:pathLst>
              <a:path w="3959605" h="3894811">
                <a:moveTo>
                  <a:pt x="0" y="0"/>
                </a:moveTo>
                <a:lnTo>
                  <a:pt x="3959605" y="0"/>
                </a:lnTo>
                <a:lnTo>
                  <a:pt x="3959605" y="3894811"/>
                </a:lnTo>
                <a:lnTo>
                  <a:pt x="0" y="389481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1716402" y="6143695"/>
            <a:ext cx="5490204" cy="4916020"/>
          </a:xfrm>
          <a:custGeom>
            <a:avLst/>
            <a:gdLst/>
            <a:ahLst/>
            <a:cxnLst/>
            <a:rect l="l" t="t" r="r" b="b"/>
            <a:pathLst>
              <a:path w="5490204" h="4916020">
                <a:moveTo>
                  <a:pt x="0" y="0"/>
                </a:moveTo>
                <a:lnTo>
                  <a:pt x="5490204" y="0"/>
                </a:lnTo>
                <a:lnTo>
                  <a:pt x="5490204" y="4916020"/>
                </a:lnTo>
                <a:lnTo>
                  <a:pt x="0" y="491602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9997922" y="8085591"/>
            <a:ext cx="4621216" cy="3515975"/>
          </a:xfrm>
          <a:custGeom>
            <a:avLst/>
            <a:gdLst/>
            <a:ahLst/>
            <a:cxnLst/>
            <a:rect l="l" t="t" r="r" b="b"/>
            <a:pathLst>
              <a:path w="4621216" h="3515975">
                <a:moveTo>
                  <a:pt x="0" y="0"/>
                </a:moveTo>
                <a:lnTo>
                  <a:pt x="4621216" y="0"/>
                </a:lnTo>
                <a:lnTo>
                  <a:pt x="4621216" y="3515975"/>
                </a:lnTo>
                <a:lnTo>
                  <a:pt x="0" y="351597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1433484">
            <a:off x="2124354" y="-514935"/>
            <a:ext cx="2658742" cy="2924616"/>
          </a:xfrm>
          <a:custGeom>
            <a:avLst/>
            <a:gdLst/>
            <a:ahLst/>
            <a:cxnLst/>
            <a:rect l="l" t="t" r="r" b="b"/>
            <a:pathLst>
              <a:path w="2658742" h="2924616">
                <a:moveTo>
                  <a:pt x="0" y="0"/>
                </a:moveTo>
                <a:lnTo>
                  <a:pt x="2658742" y="0"/>
                </a:lnTo>
                <a:lnTo>
                  <a:pt x="2658742" y="2924616"/>
                </a:lnTo>
                <a:lnTo>
                  <a:pt x="0" y="292461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-2952721">
            <a:off x="13676831" y="-428566"/>
            <a:ext cx="2658742" cy="2924616"/>
          </a:xfrm>
          <a:custGeom>
            <a:avLst/>
            <a:gdLst/>
            <a:ahLst/>
            <a:cxnLst/>
            <a:rect l="l" t="t" r="r" b="b"/>
            <a:pathLst>
              <a:path w="2658742" h="2924616">
                <a:moveTo>
                  <a:pt x="0" y="0"/>
                </a:moveTo>
                <a:lnTo>
                  <a:pt x="2658742" y="0"/>
                </a:lnTo>
                <a:lnTo>
                  <a:pt x="2658742" y="2924616"/>
                </a:lnTo>
                <a:lnTo>
                  <a:pt x="0" y="292461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-1908845">
            <a:off x="14703611" y="951350"/>
            <a:ext cx="6881994" cy="5543134"/>
          </a:xfrm>
          <a:custGeom>
            <a:avLst/>
            <a:gdLst/>
            <a:ahLst/>
            <a:cxnLst/>
            <a:rect l="l" t="t" r="r" b="b"/>
            <a:pathLst>
              <a:path w="6881994" h="5543134">
                <a:moveTo>
                  <a:pt x="0" y="0"/>
                </a:moveTo>
                <a:lnTo>
                  <a:pt x="6881994" y="0"/>
                </a:lnTo>
                <a:lnTo>
                  <a:pt x="6881994" y="5543133"/>
                </a:lnTo>
                <a:lnTo>
                  <a:pt x="0" y="554313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rot="1156030">
            <a:off x="-2326381" y="931484"/>
            <a:ext cx="6140884" cy="4946203"/>
          </a:xfrm>
          <a:custGeom>
            <a:avLst/>
            <a:gdLst/>
            <a:ahLst/>
            <a:cxnLst/>
            <a:rect l="l" t="t" r="r" b="b"/>
            <a:pathLst>
              <a:path w="6140884" h="4946203">
                <a:moveTo>
                  <a:pt x="0" y="0"/>
                </a:moveTo>
                <a:lnTo>
                  <a:pt x="6140884" y="0"/>
                </a:lnTo>
                <a:lnTo>
                  <a:pt x="6140884" y="4946203"/>
                </a:lnTo>
                <a:lnTo>
                  <a:pt x="0" y="494620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rot="-522393">
            <a:off x="2927061" y="8817310"/>
            <a:ext cx="7315200" cy="2939380"/>
          </a:xfrm>
          <a:custGeom>
            <a:avLst/>
            <a:gdLst/>
            <a:ahLst/>
            <a:cxnLst/>
            <a:rect l="l" t="t" r="r" b="b"/>
            <a:pathLst>
              <a:path w="7315200" h="2939380">
                <a:moveTo>
                  <a:pt x="0" y="0"/>
                </a:moveTo>
                <a:lnTo>
                  <a:pt x="7315200" y="0"/>
                </a:lnTo>
                <a:lnTo>
                  <a:pt x="7315200" y="2939380"/>
                </a:lnTo>
                <a:lnTo>
                  <a:pt x="0" y="293938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4164790" y="3573903"/>
            <a:ext cx="4979210" cy="4897732"/>
          </a:xfrm>
          <a:custGeom>
            <a:avLst/>
            <a:gdLst/>
            <a:ahLst/>
            <a:cxnLst/>
            <a:rect l="l" t="t" r="r" b="b"/>
            <a:pathLst>
              <a:path w="4979210" h="4897732">
                <a:moveTo>
                  <a:pt x="0" y="0"/>
                </a:moveTo>
                <a:lnTo>
                  <a:pt x="4979210" y="0"/>
                </a:lnTo>
                <a:lnTo>
                  <a:pt x="4979210" y="4897732"/>
                </a:lnTo>
                <a:lnTo>
                  <a:pt x="0" y="4897732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3738860" y="1998651"/>
            <a:ext cx="10810280" cy="10521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680"/>
              </a:lnSpc>
              <a:spcBef>
                <a:spcPct val="0"/>
              </a:spcBef>
            </a:pPr>
            <a:r>
              <a:rPr lang="en-US" sz="6200" b="1" spc="68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Nuclear is coming: 10–15%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6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4619138" y="6654300"/>
            <a:ext cx="3959605" cy="3894811"/>
          </a:xfrm>
          <a:custGeom>
            <a:avLst/>
            <a:gdLst/>
            <a:ahLst/>
            <a:cxnLst/>
            <a:rect l="l" t="t" r="r" b="b"/>
            <a:pathLst>
              <a:path w="3959605" h="3894811">
                <a:moveTo>
                  <a:pt x="0" y="0"/>
                </a:moveTo>
                <a:lnTo>
                  <a:pt x="3959605" y="0"/>
                </a:lnTo>
                <a:lnTo>
                  <a:pt x="3959605" y="3894811"/>
                </a:lnTo>
                <a:lnTo>
                  <a:pt x="0" y="389481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1716402" y="6143695"/>
            <a:ext cx="5490204" cy="4916020"/>
          </a:xfrm>
          <a:custGeom>
            <a:avLst/>
            <a:gdLst/>
            <a:ahLst/>
            <a:cxnLst/>
            <a:rect l="l" t="t" r="r" b="b"/>
            <a:pathLst>
              <a:path w="5490204" h="4916020">
                <a:moveTo>
                  <a:pt x="0" y="0"/>
                </a:moveTo>
                <a:lnTo>
                  <a:pt x="5490204" y="0"/>
                </a:lnTo>
                <a:lnTo>
                  <a:pt x="5490204" y="4916020"/>
                </a:lnTo>
                <a:lnTo>
                  <a:pt x="0" y="491602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9997922" y="8085591"/>
            <a:ext cx="4621216" cy="3515975"/>
          </a:xfrm>
          <a:custGeom>
            <a:avLst/>
            <a:gdLst/>
            <a:ahLst/>
            <a:cxnLst/>
            <a:rect l="l" t="t" r="r" b="b"/>
            <a:pathLst>
              <a:path w="4621216" h="3515975">
                <a:moveTo>
                  <a:pt x="0" y="0"/>
                </a:moveTo>
                <a:lnTo>
                  <a:pt x="4621216" y="0"/>
                </a:lnTo>
                <a:lnTo>
                  <a:pt x="4621216" y="3515975"/>
                </a:lnTo>
                <a:lnTo>
                  <a:pt x="0" y="351597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1433484">
            <a:off x="2124354" y="-514935"/>
            <a:ext cx="2658742" cy="2924616"/>
          </a:xfrm>
          <a:custGeom>
            <a:avLst/>
            <a:gdLst/>
            <a:ahLst/>
            <a:cxnLst/>
            <a:rect l="l" t="t" r="r" b="b"/>
            <a:pathLst>
              <a:path w="2658742" h="2924616">
                <a:moveTo>
                  <a:pt x="0" y="0"/>
                </a:moveTo>
                <a:lnTo>
                  <a:pt x="2658742" y="0"/>
                </a:lnTo>
                <a:lnTo>
                  <a:pt x="2658742" y="2924616"/>
                </a:lnTo>
                <a:lnTo>
                  <a:pt x="0" y="292461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-2952721">
            <a:off x="13676831" y="-428566"/>
            <a:ext cx="2658742" cy="2924616"/>
          </a:xfrm>
          <a:custGeom>
            <a:avLst/>
            <a:gdLst/>
            <a:ahLst/>
            <a:cxnLst/>
            <a:rect l="l" t="t" r="r" b="b"/>
            <a:pathLst>
              <a:path w="2658742" h="2924616">
                <a:moveTo>
                  <a:pt x="0" y="0"/>
                </a:moveTo>
                <a:lnTo>
                  <a:pt x="2658742" y="0"/>
                </a:lnTo>
                <a:lnTo>
                  <a:pt x="2658742" y="2924616"/>
                </a:lnTo>
                <a:lnTo>
                  <a:pt x="0" y="292461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-1908845">
            <a:off x="14703611" y="951350"/>
            <a:ext cx="6881994" cy="5543134"/>
          </a:xfrm>
          <a:custGeom>
            <a:avLst/>
            <a:gdLst/>
            <a:ahLst/>
            <a:cxnLst/>
            <a:rect l="l" t="t" r="r" b="b"/>
            <a:pathLst>
              <a:path w="6881994" h="5543134">
                <a:moveTo>
                  <a:pt x="0" y="0"/>
                </a:moveTo>
                <a:lnTo>
                  <a:pt x="6881994" y="0"/>
                </a:lnTo>
                <a:lnTo>
                  <a:pt x="6881994" y="5543133"/>
                </a:lnTo>
                <a:lnTo>
                  <a:pt x="0" y="554313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rot="1156030">
            <a:off x="-2326381" y="931484"/>
            <a:ext cx="6140884" cy="4946203"/>
          </a:xfrm>
          <a:custGeom>
            <a:avLst/>
            <a:gdLst/>
            <a:ahLst/>
            <a:cxnLst/>
            <a:rect l="l" t="t" r="r" b="b"/>
            <a:pathLst>
              <a:path w="6140884" h="4946203">
                <a:moveTo>
                  <a:pt x="0" y="0"/>
                </a:moveTo>
                <a:lnTo>
                  <a:pt x="6140884" y="0"/>
                </a:lnTo>
                <a:lnTo>
                  <a:pt x="6140884" y="4946203"/>
                </a:lnTo>
                <a:lnTo>
                  <a:pt x="0" y="494620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rot="-522393">
            <a:off x="2927061" y="8817310"/>
            <a:ext cx="7315200" cy="2939380"/>
          </a:xfrm>
          <a:custGeom>
            <a:avLst/>
            <a:gdLst/>
            <a:ahLst/>
            <a:cxnLst/>
            <a:rect l="l" t="t" r="r" b="b"/>
            <a:pathLst>
              <a:path w="7315200" h="2939380">
                <a:moveTo>
                  <a:pt x="0" y="0"/>
                </a:moveTo>
                <a:lnTo>
                  <a:pt x="7315200" y="0"/>
                </a:lnTo>
                <a:lnTo>
                  <a:pt x="7315200" y="2939380"/>
                </a:lnTo>
                <a:lnTo>
                  <a:pt x="0" y="293938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0422586" y="3825749"/>
            <a:ext cx="3486670" cy="3429615"/>
          </a:xfrm>
          <a:custGeom>
            <a:avLst/>
            <a:gdLst/>
            <a:ahLst/>
            <a:cxnLst/>
            <a:rect l="l" t="t" r="r" b="b"/>
            <a:pathLst>
              <a:path w="3486670" h="3429615">
                <a:moveTo>
                  <a:pt x="0" y="0"/>
                </a:moveTo>
                <a:lnTo>
                  <a:pt x="3486670" y="0"/>
                </a:lnTo>
                <a:lnTo>
                  <a:pt x="3486670" y="3429615"/>
                </a:lnTo>
                <a:lnTo>
                  <a:pt x="0" y="3429615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3389058" y="4191483"/>
            <a:ext cx="3744743" cy="3063881"/>
          </a:xfrm>
          <a:custGeom>
            <a:avLst/>
            <a:gdLst/>
            <a:ahLst/>
            <a:cxnLst/>
            <a:rect l="l" t="t" r="r" b="b"/>
            <a:pathLst>
              <a:path w="3744743" h="3063881">
                <a:moveTo>
                  <a:pt x="0" y="0"/>
                </a:moveTo>
                <a:lnTo>
                  <a:pt x="3744743" y="0"/>
                </a:lnTo>
                <a:lnTo>
                  <a:pt x="3744743" y="3063881"/>
                </a:lnTo>
                <a:lnTo>
                  <a:pt x="0" y="3063881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7624072" y="5000376"/>
            <a:ext cx="2517169" cy="1505725"/>
          </a:xfrm>
          <a:custGeom>
            <a:avLst/>
            <a:gdLst/>
            <a:ahLst/>
            <a:cxnLst/>
            <a:rect l="l" t="t" r="r" b="b"/>
            <a:pathLst>
              <a:path w="2517169" h="1505725">
                <a:moveTo>
                  <a:pt x="0" y="0"/>
                </a:moveTo>
                <a:lnTo>
                  <a:pt x="2517169" y="0"/>
                </a:lnTo>
                <a:lnTo>
                  <a:pt x="2517169" y="1505725"/>
                </a:lnTo>
                <a:lnTo>
                  <a:pt x="0" y="1505725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3916826" y="1770589"/>
            <a:ext cx="10454348" cy="10521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680"/>
              </a:lnSpc>
              <a:spcBef>
                <a:spcPct val="0"/>
              </a:spcBef>
            </a:pPr>
            <a:r>
              <a:rPr lang="en-US" sz="6200" b="1" spc="68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The Nuclear Swap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405079" y="2746584"/>
            <a:ext cx="5477842" cy="6743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12"/>
              </a:lnSpc>
              <a:spcBef>
                <a:spcPct val="0"/>
              </a:spcBef>
            </a:pPr>
            <a:r>
              <a:rPr lang="en-US" sz="3937" b="1" spc="43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Replace Oil. Not Gas.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6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4619138" y="6654300"/>
            <a:ext cx="3959605" cy="3894811"/>
          </a:xfrm>
          <a:custGeom>
            <a:avLst/>
            <a:gdLst/>
            <a:ahLst/>
            <a:cxnLst/>
            <a:rect l="l" t="t" r="r" b="b"/>
            <a:pathLst>
              <a:path w="3959605" h="3894811">
                <a:moveTo>
                  <a:pt x="0" y="0"/>
                </a:moveTo>
                <a:lnTo>
                  <a:pt x="3959605" y="0"/>
                </a:lnTo>
                <a:lnTo>
                  <a:pt x="3959605" y="3894811"/>
                </a:lnTo>
                <a:lnTo>
                  <a:pt x="0" y="389481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1716402" y="6143695"/>
            <a:ext cx="5490204" cy="4916020"/>
          </a:xfrm>
          <a:custGeom>
            <a:avLst/>
            <a:gdLst/>
            <a:ahLst/>
            <a:cxnLst/>
            <a:rect l="l" t="t" r="r" b="b"/>
            <a:pathLst>
              <a:path w="5490204" h="4916020">
                <a:moveTo>
                  <a:pt x="0" y="0"/>
                </a:moveTo>
                <a:lnTo>
                  <a:pt x="5490204" y="0"/>
                </a:lnTo>
                <a:lnTo>
                  <a:pt x="5490204" y="4916020"/>
                </a:lnTo>
                <a:lnTo>
                  <a:pt x="0" y="491602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9997922" y="8085591"/>
            <a:ext cx="4621216" cy="3515975"/>
          </a:xfrm>
          <a:custGeom>
            <a:avLst/>
            <a:gdLst/>
            <a:ahLst/>
            <a:cxnLst/>
            <a:rect l="l" t="t" r="r" b="b"/>
            <a:pathLst>
              <a:path w="4621216" h="3515975">
                <a:moveTo>
                  <a:pt x="0" y="0"/>
                </a:moveTo>
                <a:lnTo>
                  <a:pt x="4621216" y="0"/>
                </a:lnTo>
                <a:lnTo>
                  <a:pt x="4621216" y="3515975"/>
                </a:lnTo>
                <a:lnTo>
                  <a:pt x="0" y="351597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1433484">
            <a:off x="2124354" y="-514935"/>
            <a:ext cx="2658742" cy="2924616"/>
          </a:xfrm>
          <a:custGeom>
            <a:avLst/>
            <a:gdLst/>
            <a:ahLst/>
            <a:cxnLst/>
            <a:rect l="l" t="t" r="r" b="b"/>
            <a:pathLst>
              <a:path w="2658742" h="2924616">
                <a:moveTo>
                  <a:pt x="0" y="0"/>
                </a:moveTo>
                <a:lnTo>
                  <a:pt x="2658742" y="0"/>
                </a:lnTo>
                <a:lnTo>
                  <a:pt x="2658742" y="2924616"/>
                </a:lnTo>
                <a:lnTo>
                  <a:pt x="0" y="292461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-2952721">
            <a:off x="13676831" y="-428566"/>
            <a:ext cx="2658742" cy="2924616"/>
          </a:xfrm>
          <a:custGeom>
            <a:avLst/>
            <a:gdLst/>
            <a:ahLst/>
            <a:cxnLst/>
            <a:rect l="l" t="t" r="r" b="b"/>
            <a:pathLst>
              <a:path w="2658742" h="2924616">
                <a:moveTo>
                  <a:pt x="0" y="0"/>
                </a:moveTo>
                <a:lnTo>
                  <a:pt x="2658742" y="0"/>
                </a:lnTo>
                <a:lnTo>
                  <a:pt x="2658742" y="2924616"/>
                </a:lnTo>
                <a:lnTo>
                  <a:pt x="0" y="292461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-1908845">
            <a:off x="14703611" y="951350"/>
            <a:ext cx="6881994" cy="5543134"/>
          </a:xfrm>
          <a:custGeom>
            <a:avLst/>
            <a:gdLst/>
            <a:ahLst/>
            <a:cxnLst/>
            <a:rect l="l" t="t" r="r" b="b"/>
            <a:pathLst>
              <a:path w="6881994" h="5543134">
                <a:moveTo>
                  <a:pt x="0" y="0"/>
                </a:moveTo>
                <a:lnTo>
                  <a:pt x="6881994" y="0"/>
                </a:lnTo>
                <a:lnTo>
                  <a:pt x="6881994" y="5543133"/>
                </a:lnTo>
                <a:lnTo>
                  <a:pt x="0" y="554313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rot="1156030">
            <a:off x="-2326381" y="931484"/>
            <a:ext cx="6140884" cy="4946203"/>
          </a:xfrm>
          <a:custGeom>
            <a:avLst/>
            <a:gdLst/>
            <a:ahLst/>
            <a:cxnLst/>
            <a:rect l="l" t="t" r="r" b="b"/>
            <a:pathLst>
              <a:path w="6140884" h="4946203">
                <a:moveTo>
                  <a:pt x="0" y="0"/>
                </a:moveTo>
                <a:lnTo>
                  <a:pt x="6140884" y="0"/>
                </a:lnTo>
                <a:lnTo>
                  <a:pt x="6140884" y="4946203"/>
                </a:lnTo>
                <a:lnTo>
                  <a:pt x="0" y="494620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rot="-522393">
            <a:off x="2927061" y="8817310"/>
            <a:ext cx="7315200" cy="2939380"/>
          </a:xfrm>
          <a:custGeom>
            <a:avLst/>
            <a:gdLst/>
            <a:ahLst/>
            <a:cxnLst/>
            <a:rect l="l" t="t" r="r" b="b"/>
            <a:pathLst>
              <a:path w="7315200" h="2939380">
                <a:moveTo>
                  <a:pt x="0" y="0"/>
                </a:moveTo>
                <a:lnTo>
                  <a:pt x="7315200" y="0"/>
                </a:lnTo>
                <a:lnTo>
                  <a:pt x="7315200" y="2939380"/>
                </a:lnTo>
                <a:lnTo>
                  <a:pt x="0" y="293938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9579022" y="3270791"/>
            <a:ext cx="4792153" cy="4539531"/>
          </a:xfrm>
          <a:custGeom>
            <a:avLst/>
            <a:gdLst/>
            <a:ahLst/>
            <a:cxnLst/>
            <a:rect l="l" t="t" r="r" b="b"/>
            <a:pathLst>
              <a:path w="4792153" h="4539531">
                <a:moveTo>
                  <a:pt x="0" y="0"/>
                </a:moveTo>
                <a:lnTo>
                  <a:pt x="4792152" y="0"/>
                </a:lnTo>
                <a:lnTo>
                  <a:pt x="4792152" y="4539531"/>
                </a:lnTo>
                <a:lnTo>
                  <a:pt x="0" y="4539531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3916826" y="1770589"/>
            <a:ext cx="10454348" cy="10521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680"/>
              </a:lnSpc>
              <a:spcBef>
                <a:spcPct val="0"/>
              </a:spcBef>
            </a:pPr>
            <a:r>
              <a:rPr lang="en-US" sz="6200" b="1" spc="68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~50% CO₂ reduction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5261430" y="2976183"/>
            <a:ext cx="4049245" cy="7710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342"/>
              </a:lnSpc>
              <a:spcBef>
                <a:spcPct val="0"/>
              </a:spcBef>
            </a:pPr>
            <a:r>
              <a:rPr lang="en-US" sz="4530" b="1" spc="49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Power sector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6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4619138" y="6654300"/>
            <a:ext cx="3959605" cy="3894811"/>
          </a:xfrm>
          <a:custGeom>
            <a:avLst/>
            <a:gdLst/>
            <a:ahLst/>
            <a:cxnLst/>
            <a:rect l="l" t="t" r="r" b="b"/>
            <a:pathLst>
              <a:path w="3959605" h="3894811">
                <a:moveTo>
                  <a:pt x="0" y="0"/>
                </a:moveTo>
                <a:lnTo>
                  <a:pt x="3959605" y="0"/>
                </a:lnTo>
                <a:lnTo>
                  <a:pt x="3959605" y="3894811"/>
                </a:lnTo>
                <a:lnTo>
                  <a:pt x="0" y="389481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1716402" y="6143695"/>
            <a:ext cx="5490204" cy="4916020"/>
          </a:xfrm>
          <a:custGeom>
            <a:avLst/>
            <a:gdLst/>
            <a:ahLst/>
            <a:cxnLst/>
            <a:rect l="l" t="t" r="r" b="b"/>
            <a:pathLst>
              <a:path w="5490204" h="4916020">
                <a:moveTo>
                  <a:pt x="0" y="0"/>
                </a:moveTo>
                <a:lnTo>
                  <a:pt x="5490204" y="0"/>
                </a:lnTo>
                <a:lnTo>
                  <a:pt x="5490204" y="4916020"/>
                </a:lnTo>
                <a:lnTo>
                  <a:pt x="0" y="491602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9997922" y="8085591"/>
            <a:ext cx="4621216" cy="3515975"/>
          </a:xfrm>
          <a:custGeom>
            <a:avLst/>
            <a:gdLst/>
            <a:ahLst/>
            <a:cxnLst/>
            <a:rect l="l" t="t" r="r" b="b"/>
            <a:pathLst>
              <a:path w="4621216" h="3515975">
                <a:moveTo>
                  <a:pt x="0" y="0"/>
                </a:moveTo>
                <a:lnTo>
                  <a:pt x="4621216" y="0"/>
                </a:lnTo>
                <a:lnTo>
                  <a:pt x="4621216" y="3515975"/>
                </a:lnTo>
                <a:lnTo>
                  <a:pt x="0" y="351597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1433484">
            <a:off x="2124354" y="-514935"/>
            <a:ext cx="2658742" cy="2924616"/>
          </a:xfrm>
          <a:custGeom>
            <a:avLst/>
            <a:gdLst/>
            <a:ahLst/>
            <a:cxnLst/>
            <a:rect l="l" t="t" r="r" b="b"/>
            <a:pathLst>
              <a:path w="2658742" h="2924616">
                <a:moveTo>
                  <a:pt x="0" y="0"/>
                </a:moveTo>
                <a:lnTo>
                  <a:pt x="2658742" y="0"/>
                </a:lnTo>
                <a:lnTo>
                  <a:pt x="2658742" y="2924616"/>
                </a:lnTo>
                <a:lnTo>
                  <a:pt x="0" y="292461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-2952721">
            <a:off x="13676831" y="-428566"/>
            <a:ext cx="2658742" cy="2924616"/>
          </a:xfrm>
          <a:custGeom>
            <a:avLst/>
            <a:gdLst/>
            <a:ahLst/>
            <a:cxnLst/>
            <a:rect l="l" t="t" r="r" b="b"/>
            <a:pathLst>
              <a:path w="2658742" h="2924616">
                <a:moveTo>
                  <a:pt x="0" y="0"/>
                </a:moveTo>
                <a:lnTo>
                  <a:pt x="2658742" y="0"/>
                </a:lnTo>
                <a:lnTo>
                  <a:pt x="2658742" y="2924616"/>
                </a:lnTo>
                <a:lnTo>
                  <a:pt x="0" y="292461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-1908845">
            <a:off x="14703611" y="951350"/>
            <a:ext cx="6881994" cy="5543134"/>
          </a:xfrm>
          <a:custGeom>
            <a:avLst/>
            <a:gdLst/>
            <a:ahLst/>
            <a:cxnLst/>
            <a:rect l="l" t="t" r="r" b="b"/>
            <a:pathLst>
              <a:path w="6881994" h="5543134">
                <a:moveTo>
                  <a:pt x="0" y="0"/>
                </a:moveTo>
                <a:lnTo>
                  <a:pt x="6881994" y="0"/>
                </a:lnTo>
                <a:lnTo>
                  <a:pt x="6881994" y="5543133"/>
                </a:lnTo>
                <a:lnTo>
                  <a:pt x="0" y="554313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rot="1156030">
            <a:off x="-2326381" y="931484"/>
            <a:ext cx="6140884" cy="4946203"/>
          </a:xfrm>
          <a:custGeom>
            <a:avLst/>
            <a:gdLst/>
            <a:ahLst/>
            <a:cxnLst/>
            <a:rect l="l" t="t" r="r" b="b"/>
            <a:pathLst>
              <a:path w="6140884" h="4946203">
                <a:moveTo>
                  <a:pt x="0" y="0"/>
                </a:moveTo>
                <a:lnTo>
                  <a:pt x="6140884" y="0"/>
                </a:lnTo>
                <a:lnTo>
                  <a:pt x="6140884" y="4946203"/>
                </a:lnTo>
                <a:lnTo>
                  <a:pt x="0" y="494620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rot="-522393">
            <a:off x="2927061" y="8817310"/>
            <a:ext cx="7315200" cy="2939380"/>
          </a:xfrm>
          <a:custGeom>
            <a:avLst/>
            <a:gdLst/>
            <a:ahLst/>
            <a:cxnLst/>
            <a:rect l="l" t="t" r="r" b="b"/>
            <a:pathLst>
              <a:path w="7315200" h="2939380">
                <a:moveTo>
                  <a:pt x="0" y="0"/>
                </a:moveTo>
                <a:lnTo>
                  <a:pt x="7315200" y="0"/>
                </a:lnTo>
                <a:lnTo>
                  <a:pt x="7315200" y="2939380"/>
                </a:lnTo>
                <a:lnTo>
                  <a:pt x="0" y="293938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3817986" y="4800311"/>
            <a:ext cx="5533350" cy="4114800"/>
          </a:xfrm>
          <a:custGeom>
            <a:avLst/>
            <a:gdLst/>
            <a:ahLst/>
            <a:cxnLst/>
            <a:rect l="l" t="t" r="r" b="b"/>
            <a:pathLst>
              <a:path w="5533350" h="4114800">
                <a:moveTo>
                  <a:pt x="0" y="0"/>
                </a:moveTo>
                <a:lnTo>
                  <a:pt x="5533350" y="0"/>
                </a:lnTo>
                <a:lnTo>
                  <a:pt x="553335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3668400" y="2044294"/>
            <a:ext cx="10454348" cy="10521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680"/>
              </a:lnSpc>
              <a:spcBef>
                <a:spcPct val="0"/>
              </a:spcBef>
            </a:pPr>
            <a:r>
              <a:rPr lang="en-US" sz="6200" b="1" spc="68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Environment solved.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967335" y="3748116"/>
            <a:ext cx="12353330" cy="10521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680"/>
              </a:lnSpc>
              <a:spcBef>
                <a:spcPct val="0"/>
              </a:spcBef>
            </a:pPr>
            <a:r>
              <a:rPr lang="en-US" sz="6200" b="1" spc="68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Does it make financial sense?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6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9997922" y="8085591"/>
            <a:ext cx="4621216" cy="3515975"/>
          </a:xfrm>
          <a:custGeom>
            <a:avLst/>
            <a:gdLst/>
            <a:ahLst/>
            <a:cxnLst/>
            <a:rect l="l" t="t" r="r" b="b"/>
            <a:pathLst>
              <a:path w="4621216" h="3515975">
                <a:moveTo>
                  <a:pt x="0" y="0"/>
                </a:moveTo>
                <a:lnTo>
                  <a:pt x="4621216" y="0"/>
                </a:lnTo>
                <a:lnTo>
                  <a:pt x="4621216" y="3515975"/>
                </a:lnTo>
                <a:lnTo>
                  <a:pt x="0" y="351597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2924560" y="1028700"/>
            <a:ext cx="12344400" cy="8229600"/>
          </a:xfrm>
          <a:custGeom>
            <a:avLst/>
            <a:gdLst/>
            <a:ahLst/>
            <a:cxnLst/>
            <a:rect l="l" t="t" r="r" b="b"/>
            <a:pathLst>
              <a:path w="12344400" h="8229600">
                <a:moveTo>
                  <a:pt x="0" y="0"/>
                </a:moveTo>
                <a:lnTo>
                  <a:pt x="12344400" y="0"/>
                </a:lnTo>
                <a:lnTo>
                  <a:pt x="1234440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4619138" y="6654300"/>
            <a:ext cx="3959605" cy="3894811"/>
          </a:xfrm>
          <a:custGeom>
            <a:avLst/>
            <a:gdLst/>
            <a:ahLst/>
            <a:cxnLst/>
            <a:rect l="l" t="t" r="r" b="b"/>
            <a:pathLst>
              <a:path w="3959605" h="3894811">
                <a:moveTo>
                  <a:pt x="0" y="0"/>
                </a:moveTo>
                <a:lnTo>
                  <a:pt x="3959605" y="0"/>
                </a:lnTo>
                <a:lnTo>
                  <a:pt x="3959605" y="3894811"/>
                </a:lnTo>
                <a:lnTo>
                  <a:pt x="0" y="389481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-1716402" y="6143695"/>
            <a:ext cx="5490204" cy="4916020"/>
          </a:xfrm>
          <a:custGeom>
            <a:avLst/>
            <a:gdLst/>
            <a:ahLst/>
            <a:cxnLst/>
            <a:rect l="l" t="t" r="r" b="b"/>
            <a:pathLst>
              <a:path w="5490204" h="4916020">
                <a:moveTo>
                  <a:pt x="0" y="0"/>
                </a:moveTo>
                <a:lnTo>
                  <a:pt x="5490204" y="0"/>
                </a:lnTo>
                <a:lnTo>
                  <a:pt x="5490204" y="4916020"/>
                </a:lnTo>
                <a:lnTo>
                  <a:pt x="0" y="491602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1433484">
            <a:off x="2124354" y="-514935"/>
            <a:ext cx="2658742" cy="2924616"/>
          </a:xfrm>
          <a:custGeom>
            <a:avLst/>
            <a:gdLst/>
            <a:ahLst/>
            <a:cxnLst/>
            <a:rect l="l" t="t" r="r" b="b"/>
            <a:pathLst>
              <a:path w="2658742" h="2924616">
                <a:moveTo>
                  <a:pt x="0" y="0"/>
                </a:moveTo>
                <a:lnTo>
                  <a:pt x="2658742" y="0"/>
                </a:lnTo>
                <a:lnTo>
                  <a:pt x="2658742" y="2924616"/>
                </a:lnTo>
                <a:lnTo>
                  <a:pt x="0" y="292461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-2952721">
            <a:off x="13676831" y="-428566"/>
            <a:ext cx="2658742" cy="2924616"/>
          </a:xfrm>
          <a:custGeom>
            <a:avLst/>
            <a:gdLst/>
            <a:ahLst/>
            <a:cxnLst/>
            <a:rect l="l" t="t" r="r" b="b"/>
            <a:pathLst>
              <a:path w="2658742" h="2924616">
                <a:moveTo>
                  <a:pt x="0" y="0"/>
                </a:moveTo>
                <a:lnTo>
                  <a:pt x="2658742" y="0"/>
                </a:lnTo>
                <a:lnTo>
                  <a:pt x="2658742" y="2924616"/>
                </a:lnTo>
                <a:lnTo>
                  <a:pt x="0" y="292461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rot="-1908845">
            <a:off x="14703611" y="951350"/>
            <a:ext cx="6881994" cy="5543134"/>
          </a:xfrm>
          <a:custGeom>
            <a:avLst/>
            <a:gdLst/>
            <a:ahLst/>
            <a:cxnLst/>
            <a:rect l="l" t="t" r="r" b="b"/>
            <a:pathLst>
              <a:path w="6881994" h="5543134">
                <a:moveTo>
                  <a:pt x="0" y="0"/>
                </a:moveTo>
                <a:lnTo>
                  <a:pt x="6881994" y="0"/>
                </a:lnTo>
                <a:lnTo>
                  <a:pt x="6881994" y="5543133"/>
                </a:lnTo>
                <a:lnTo>
                  <a:pt x="0" y="5543133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rot="-522393">
            <a:off x="2927061" y="8817310"/>
            <a:ext cx="7315200" cy="2939380"/>
          </a:xfrm>
          <a:custGeom>
            <a:avLst/>
            <a:gdLst/>
            <a:ahLst/>
            <a:cxnLst/>
            <a:rect l="l" t="t" r="r" b="b"/>
            <a:pathLst>
              <a:path w="7315200" h="2939380">
                <a:moveTo>
                  <a:pt x="0" y="0"/>
                </a:moveTo>
                <a:lnTo>
                  <a:pt x="7315200" y="0"/>
                </a:lnTo>
                <a:lnTo>
                  <a:pt x="7315200" y="2939380"/>
                </a:lnTo>
                <a:lnTo>
                  <a:pt x="0" y="2939380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 rot="1156030">
            <a:off x="-2332320" y="966471"/>
            <a:ext cx="6084263" cy="4900597"/>
          </a:xfrm>
          <a:custGeom>
            <a:avLst/>
            <a:gdLst/>
            <a:ahLst/>
            <a:cxnLst/>
            <a:rect l="l" t="t" r="r" b="b"/>
            <a:pathLst>
              <a:path w="6084263" h="4900597">
                <a:moveTo>
                  <a:pt x="0" y="0"/>
                </a:moveTo>
                <a:lnTo>
                  <a:pt x="6084263" y="0"/>
                </a:lnTo>
                <a:lnTo>
                  <a:pt x="6084263" y="4900597"/>
                </a:lnTo>
                <a:lnTo>
                  <a:pt x="0" y="4900597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6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2871777" y="4935531"/>
            <a:ext cx="5706966" cy="5613579"/>
          </a:xfrm>
          <a:custGeom>
            <a:avLst/>
            <a:gdLst/>
            <a:ahLst/>
            <a:cxnLst/>
            <a:rect l="l" t="t" r="r" b="b"/>
            <a:pathLst>
              <a:path w="5706966" h="5613579">
                <a:moveTo>
                  <a:pt x="0" y="0"/>
                </a:moveTo>
                <a:lnTo>
                  <a:pt x="5706966" y="0"/>
                </a:lnTo>
                <a:lnTo>
                  <a:pt x="5706966" y="5613580"/>
                </a:lnTo>
                <a:lnTo>
                  <a:pt x="0" y="561358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759269" y="6812692"/>
            <a:ext cx="10816561" cy="8229600"/>
          </a:xfrm>
          <a:custGeom>
            <a:avLst/>
            <a:gdLst/>
            <a:ahLst/>
            <a:cxnLst/>
            <a:rect l="l" t="t" r="r" b="b"/>
            <a:pathLst>
              <a:path w="10816561" h="8229600">
                <a:moveTo>
                  <a:pt x="0" y="0"/>
                </a:moveTo>
                <a:lnTo>
                  <a:pt x="10816561" y="0"/>
                </a:lnTo>
                <a:lnTo>
                  <a:pt x="10816561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-4461504" y="2926292"/>
            <a:ext cx="9190805" cy="8229600"/>
          </a:xfrm>
          <a:custGeom>
            <a:avLst/>
            <a:gdLst/>
            <a:ahLst/>
            <a:cxnLst/>
            <a:rect l="l" t="t" r="r" b="b"/>
            <a:pathLst>
              <a:path w="9190805" h="8229600">
                <a:moveTo>
                  <a:pt x="0" y="0"/>
                </a:moveTo>
                <a:lnTo>
                  <a:pt x="9190805" y="0"/>
                </a:lnTo>
                <a:lnTo>
                  <a:pt x="9190805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4037591" y="3023737"/>
            <a:ext cx="10212818" cy="45919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426"/>
              </a:lnSpc>
            </a:pPr>
            <a:r>
              <a:rPr lang="en-US" sz="17965">
                <a:solidFill>
                  <a:srgbClr val="163866"/>
                </a:solidFill>
                <a:latin typeface="Waffle Soft"/>
                <a:ea typeface="Waffle Soft"/>
                <a:cs typeface="Waffle Soft"/>
                <a:sym typeface="Waffle Soft"/>
              </a:rPr>
              <a:t>Thank You</a:t>
            </a:r>
          </a:p>
        </p:txBody>
      </p:sp>
      <p:sp>
        <p:nvSpPr>
          <p:cNvPr id="6" name="Freeform 6"/>
          <p:cNvSpPr/>
          <p:nvPr/>
        </p:nvSpPr>
        <p:spPr>
          <a:xfrm>
            <a:off x="11575830" y="-440990"/>
            <a:ext cx="7315200" cy="2939380"/>
          </a:xfrm>
          <a:custGeom>
            <a:avLst/>
            <a:gdLst/>
            <a:ahLst/>
            <a:cxnLst/>
            <a:rect l="l" t="t" r="r" b="b"/>
            <a:pathLst>
              <a:path w="7315200" h="2939380">
                <a:moveTo>
                  <a:pt x="0" y="0"/>
                </a:moveTo>
                <a:lnTo>
                  <a:pt x="7315200" y="0"/>
                </a:lnTo>
                <a:lnTo>
                  <a:pt x="7315200" y="2939380"/>
                </a:lnTo>
                <a:lnTo>
                  <a:pt x="0" y="293938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-207680" y="242724"/>
            <a:ext cx="3953055" cy="4511333"/>
          </a:xfrm>
          <a:custGeom>
            <a:avLst/>
            <a:gdLst/>
            <a:ahLst/>
            <a:cxnLst/>
            <a:rect l="l" t="t" r="r" b="b"/>
            <a:pathLst>
              <a:path w="3953055" h="4511333">
                <a:moveTo>
                  <a:pt x="0" y="0"/>
                </a:moveTo>
                <a:lnTo>
                  <a:pt x="3953055" y="0"/>
                </a:lnTo>
                <a:lnTo>
                  <a:pt x="3953055" y="4511332"/>
                </a:lnTo>
                <a:lnTo>
                  <a:pt x="0" y="451133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rot="-1908845">
            <a:off x="15437806" y="2096715"/>
            <a:ext cx="5108668" cy="4114800"/>
          </a:xfrm>
          <a:custGeom>
            <a:avLst/>
            <a:gdLst/>
            <a:ahLst/>
            <a:cxnLst/>
            <a:rect l="l" t="t" r="r" b="b"/>
            <a:pathLst>
              <a:path w="5108668" h="4114800">
                <a:moveTo>
                  <a:pt x="0" y="0"/>
                </a:moveTo>
                <a:lnTo>
                  <a:pt x="5108668" y="0"/>
                </a:lnTo>
                <a:lnTo>
                  <a:pt x="510866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rot="1433484">
            <a:off x="6331232" y="-673699"/>
            <a:ext cx="2658742" cy="2924616"/>
          </a:xfrm>
          <a:custGeom>
            <a:avLst/>
            <a:gdLst/>
            <a:ahLst/>
            <a:cxnLst/>
            <a:rect l="l" t="t" r="r" b="b"/>
            <a:pathLst>
              <a:path w="2658742" h="2924616">
                <a:moveTo>
                  <a:pt x="0" y="0"/>
                </a:moveTo>
                <a:lnTo>
                  <a:pt x="2658742" y="0"/>
                </a:lnTo>
                <a:lnTo>
                  <a:pt x="2658742" y="2924616"/>
                </a:lnTo>
                <a:lnTo>
                  <a:pt x="0" y="2924616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130</Words>
  <Application>Microsoft Office PowerPoint</Application>
  <PresentationFormat>Custom</PresentationFormat>
  <Paragraphs>36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3" baseType="lpstr">
      <vt:lpstr>TT Fors</vt:lpstr>
      <vt:lpstr>Arial</vt:lpstr>
      <vt:lpstr>Waffle Soft</vt:lpstr>
      <vt:lpstr>Garet</vt:lpstr>
      <vt:lpstr>Calibri</vt:lpstr>
      <vt:lpstr>TT Fors Bold</vt:lpstr>
      <vt:lpstr>Garet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Graduation Project</dc:title>
  <cp:lastModifiedBy>boda fawzy</cp:lastModifiedBy>
  <cp:revision>1</cp:revision>
  <dcterms:created xsi:type="dcterms:W3CDTF">2006-08-16T00:00:00Z</dcterms:created>
  <dcterms:modified xsi:type="dcterms:W3CDTF">2025-12-13T16:11:31Z</dcterms:modified>
  <dc:identifier>DAG6vcsHWiE</dc:identifier>
</cp:coreProperties>
</file>